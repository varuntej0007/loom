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3a6fa2-c698-262c-6c14-50b694c5a067}">
          <p14:sldIdLst>
            <p14:sldId id="256"/>
          </p14:sldIdLst>
        </p14:section>
        <p14:section name="Problem" id="{c81669d8-7763-4b4f-9537-fe76f4cfd764}">
          <p14:sldIdLst>
            <p14:sldId id="257"/>
            <p14:sldId id="258"/>
          </p14:sldIdLst>
        </p14:section>
        <p14:section name="Solution" id="{bb396610-0a41-0fd7-de7a-62a4fb26d2be}">
          <p14:sldIdLst>
            <p14:sldId id="259"/>
            <p14:sldId id="260"/>
            <p14:sldId id="261"/>
            <p14:sldId id="262"/>
            <p14:sldId id="263"/>
          </p14:sldIdLst>
        </p14:section>
        <p14:section name="Proof" id="{24d083a5-e567-7d34-c75e-90048542a1ea}">
          <p14:sldIdLst>
            <p14:sldId id="264"/>
            <p14:sldId id="265"/>
          </p14:sldIdLst>
        </p14:section>
        <p14:section name="Impact" id="{c9d31b83-00f1-2519-3107-351ee1c7e0b5}">
          <p14:sldIdLst>
            <p14:sldId id="266"/>
            <p14:sldId id="267"/>
            <p14:sldId id="268"/>
            <p14:sldId id="269"/>
          </p14:sldIdLst>
        </p14:section>
        <p14:section name="Close" id="{ec8f00d3-d17b-b674-5c48-539a974fb0a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3"/>
                </a:solidFill>
                <a:latin typeface="+mn-lt"/>
              </a:defRPr>
            </a:pPr>
            <a:r>
              <a:rPr sz="1400" b="0" i="0" u="none" strike="noStrike">
                <a:solidFill>
                  <a:srgbClr val="1B2433"/>
                </a:solidFill>
                <a:latin typeface="+mn-lt"/>
              </a:rPr>
              <a:t>Battery draw, median over 15 min (mA)</a:t>
            </a:r>
          </a:p>
        </c:rich>
      </c:tx>
      <c:layout/>
      <c:overlay val="0"/>
    </c:title>
    <c:autoTitleDeleted val="0"/>
    <c:plotArea>
      <c:layout/>
      <c:barChart>
        <c:barDir val="col"/>
        <c:grouping val="clustered"/>
        <c:varyColors val="0"/>
        <c:ser>
          <c:idx val="0"/>
          <c:order val="0"/>
          <c:tx>
            <c:strRef>
              <c:f>Sheet1!$B$1</c:f>
              <c:strCache>
                <c:ptCount val="1"/>
                <c:pt idx="0">
                  <c:v>Battery draw (median mA)</c:v>
                </c:pt>
              </c:strCache>
            </c:strRef>
          </c:tx>
          <c:spPr>
            <a:solidFill>
              <a:srgbClr val="D9731A"/>
            </a:solidFill>
            <a:effectLst/>
          </c:spPr>
          <c:invertIfNegative val="0"/>
          <c:dLbls>
            <c:numFmt formatCode="#,##0" sourceLinked="0"/>
            <c:txPr>
              <a:bodyPr/>
              <a:lstStyle/>
              <a:p>
                <a:pPr>
                  <a:defRPr b="1" i="0" strike="noStrike" sz="16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D9731A"/>
              </a:solidFill>
              <a:effectLst/>
            </c:spPr>
          </c:dPt>
          <c:dPt>
            <c:idx val="1"/>
            <c:invertIfNegative val="0"/>
            <c:bubble3D val="0"/>
            <c:spPr>
              <a:solidFill>
                <a:srgbClr val="14915F"/>
              </a:solidFill>
              <a:effectLst/>
            </c:spPr>
          </c:dPt>
          <c:cat>
            <c:multiLvlStrRef>
              <c:f>Sheet1!$A$2:$A$3</c:f>
              <c:multiLvlStrCache>
                <c:ptCount val="2"/>
                <c:lvl>
                  <c:pt idx="0">
                    <c:v>Ordinary app</c:v>
                  </c:pt>
                  <c:pt idx="1">
                    <c:v>LOOM</c:v>
                  </c:pt>
                </c:lvl>
              </c:multiLvlStrCache>
            </c:multiLvlStrRef>
          </c:cat>
          <c:val>
            <c:numRef>
              <c:f>Sheet1!$B$2:$B$3</c:f>
              <c:numCache>
                <c:formatCode>General</c:formatCode>
                <c:ptCount val="2"/>
                <c:pt idx="0">
                  <c:v>1048</c:v>
                </c:pt>
                <c:pt idx="1">
                  <c:v>586</c:v>
                </c:pt>
              </c:numCache>
            </c:numRef>
          </c:val>
        </c:ser>
        <c:dLbls>
          <c:numFmt formatCode="#,##0" sourceLinked="0"/>
          <c:txPr>
            <a:bodyPr/>
            <a:lstStyle/>
            <a:p>
              <a:pPr>
                <a:defRPr b="1" i="0" strike="noStrike" sz="16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A6577"/>
                </a:solidFill>
                <a:latin typeface="+mn-lt"/>
              </a:defRPr>
            </a:pPr>
            <a:endParaRPr lang="en-US"/>
          </a:p>
        </c:txPr>
        <c:crossAx val="2094734552"/>
        <c:crosses val="autoZero"/>
        <c:auto val="1"/>
        <c:lblAlgn val="ctr"/>
        <c:noMultiLvlLbl val="1"/>
      </c:catAx>
      <c:valAx>
        <c:axId val="2094734552"/>
        <c:scaling>
          <c:orientation val="minMax"/>
          <c:max val="1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phone maker is racing to put AI on the phone. But after five minutes the phone gets hot, Android throttles the chip, the AI slows down and the battery drains. We built LOOM, a runtime that sits between the phone and any AI model and keeps it cool, fast and efficient. On this iQOO 15, running the same AI job, LOOM used 44% less battery than an ordinary app, and it stayed cool while the ordinary app overheated.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an AI model the ordinary way, everything at full power, for 15 minutes. Heat went from 0.61 to 0.98, where 1.0 means Android throttles hard. The battery drew about 1,050 mA the whole time. Speed fell from 18.7 to about 12 frames per second because the chip throttled itself. Android's thermal status reached MODERATE. So the app paid full price in battery and heat and still got slower. That's the problem every on-device AI app has, whether it's a camera model, a chatbot or a game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app is not one block. It's several jobs: the camera or input, the model, the screen, the voice output. They don't all need full power all the time. If you can control each job separately and spend power only where it matters, you get the same result for much less heat and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hardware, a chiplet is a small piece of a chip that does one job, so each part can be tuned on its own. We did the same in software. LOOM splits an AI app into virtual chiplets: Capture reads the camera at 30, 15 or 10 frames a second; Inference runs the AI model, a large or small one, on the GPU; Display draws the results; Narrator speaks them. Every chiplet reports its cost and quality, and can switch power level while running. Because the interface is standard, any AI model can be plugged in as a chiplet. Today it's object detection; tomorrow a chatbot or a game's AI. (If asked: each chiplet is a Kotlin class implementing the same interface, with profiles and live cost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chiplets are managed by the Weaver. Every second it reads the phone's real heat from Android, the battery draw and the speed. When heat goes above our limit of 0.80, it lowers power one chiplet at a time, in a fixed order: screen first, then the model, then the camera, and the voice last. The things you notice least go first. When the phone cools down it waits 5 seconds and raises power again, so it never flickers. It also follows a plan worked out in advance by our quantum planner. It's fully automatic: the user does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this work in practice. First, hot-swap in about 0.01 milliseconds: the Weaver swaps a chiplet's model or setting between two frames, so the AI never stops. Second, we control the real camera sensor. Most apps just skip frames, but the camera still captures them and burns power. LOOM tells the iQOO's camera hardware to actually capture at 30, 15 or 10 frames a second, through Camera2. That saves power at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One: before shipping, the quantum planner turns measured heat and battery data into a verified plan table. Two: on the phone, the Weaver senses heat every second, follows the plan, and steps chiplets down only when needed, through normal Android APIs, no root and no OS changes. Three: the laptop dashboard only watches over Wi-Fi and sends demo commands. The app itself has no network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dashboard, connected to the phone over Wi-Fi. Heat is the phone's real thermal headroom from Android, with real temperatures underneath: battery, skin, CPU and GPU. Battery is the current draw, Speed is frames per second, and the chiplet cards show each power level. The quantum plan strip shows which plan the Weaver is following. Now press Stress → GPU: watch the heat climb, and as it crosses 0.80 the Weaver steps in. The screen goes light, the model switches to the smaller one, the camera slows down. Every change is logged with the reason, and detection keeps working. If Wi-Fi fails: plug in USB, or play the recorded session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15-minute comparison on this phone, the same AI job both times. LOOM used 44% less battery, 586 against 1,048 mA. It held the heat flat instead of climbing, and gave a steady speed instead of a slide. Android rated it LIGHT instead of MODERATE. Detection quality stayed almost the same: 0.53 against 0.55. Honest note if asked: the two runs started at different heat levels; a cool-start rerun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Reacting to heat is good; planning ahead is better. We measured how this phone heats and cools and fitted a heat model. Then we asked: for each speed goal and heat level, which setting should every chiplet use so quality stays as high as possible while the phone stays under the limit for the next 3 minutes? That's 54 combinations. We wrote it as a QUBO with 11 qubits and solved it with QAOA in Qiskit. 15 situations, every answer checked by brute force, all 15 matched. The heat model predicted the phone would settle at 0.837; it actually settled at 0.84. The result is a plan table that ships inside the app; the Weaver follows it every 3 seconds. Honest note: this is a simulator, not quantum hardware, and every answer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Competitors and neighbours: Android's own throttling and vendor thermal engines slow the whole chip without knowing what the app needs, which is exactly the 18.7 to 12 FPS slide we measured. ADPF, Game Mode and game boosters give hints or cut performance app-wide. AI runtimes make one model fast but don't manage heat over time. LOOM knows which parts matter: it dims the screen before touching accuracy, slows the camera before dropping the voice, and it builds on ADPF's heat reading rather than fighting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iQOO already puts serious hardware into cooling: the iQOO 15 has a large vapour chamber, about 8,000 square millimetres. That's the hardware side. LOOM is the software side: it makes the heat smaller in the first place, so the cooling has less to fight. For iQOO that means AI features that stay fast for longer, longer battery life while using AI, a cooler phone in the hand, and a story no one else has: on-device AI that doesn't throttle.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is the demo, not the limit. Any AI app breaks into input, model and output. Next: local chatbots, with the model, screen and voice as chiplets; games, keeping frame rates steady; the phone's NPU as another chiplet option; and an OS service built into the phone so every app benefits. Who it's for: phone makers like iQOO, app developers shipping on-device AI, and users who want AI that works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the phone app is Kotlin and Jetpack Compose for Android 11 and up. The camera uses CameraX with Camera2 control of the sensor frame rate. The AI is MediaPipe with EfficientDet Lite0 and Lite2 on the GPU. Heat and battery come from Android's PowerManager and BatteryManager. The dashboard is a small Python server with a React page, connected over adb on Wi-Fi. The quantum planner is Qiskit: QUBO, QAOA and a brute-force check. No root, no OS changes, and the app has no network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LOOM splits AI into virtual chiplets, a Weaver keeps them in balance, and a quantum-planned policy tells it where to go. Same phone. Same job. 44% less battery.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OOM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749808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OOM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pic>
        <p:nvPicPr>
          <p:cNvPr id="3" name="Image 0" descr="inf.png">    </p:cNvPr>
          <p:cNvPicPr>
            <a:picLocks noChangeAspect="1"/>
          </p:cNvPicPr>
          <p:nvPr/>
        </p:nvPicPr>
        <p:blipFill>
          <a:blip r:embed="rId1"/>
          <a:stretch>
            <a:fillRect/>
          </a:stretch>
        </p:blipFill>
        <p:spPr>
          <a:xfrm>
            <a:off x="548640" y="6428232"/>
            <a:ext cx="384048" cy="192024"/>
          </a:xfrm>
          <a:prstGeom prst="rect">
            <a:avLst/>
          </a:prstGeom>
        </p:spPr>
      </p:pic>
      <p:sp>
        <p:nvSpPr>
          <p:cNvPr id="4" name="Text 0"/>
          <p:cNvSpPr/>
          <p:nvPr/>
        </p:nvSpPr>
        <p:spPr>
          <a:xfrm>
            <a:off x="1005840" y="6382512"/>
            <a:ext cx="7315200" cy="274320"/>
          </a:xfrm>
          <a:prstGeom prst="rect">
            <a:avLst/>
          </a:prstGeom>
          <a:noFill/>
          <a:ln/>
        </p:spPr>
        <p:txBody>
          <a:bodyPr wrap="square" lIns="0" tIns="0" rIns="0" bIns="0" rtlCol="0" anchor="ctr"/>
          <a:lstStyle/>
          <a:p>
            <a:pPr indent="0" marL="0">
              <a:buNone/>
            </a:pPr>
            <a:r>
              <a:rPr lang="en-US" sz="1000" dirty="0">
                <a:solidFill>
                  <a:srgbClr val="5A6577"/>
                </a:solidFill>
              </a:rPr>
              <a:t>LOOM · virtual chiplets for on-device AI · iQOO Hackathon 2026</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OM logo" descr="loom-logo.png">    </p:cNvPr>
          <p:cNvPicPr>
            <a:picLocks noChangeAspect="1"/>
          </p:cNvPicPr>
          <p:nvPr/>
        </p:nvPicPr>
        <p:blipFill>
          <a:blip r:embed="rId1"/>
          <a:stretch>
            <a:fillRect/>
          </a:stretch>
        </p:blipFill>
        <p:spPr>
          <a:xfrm>
            <a:off x="731520" y="822960"/>
            <a:ext cx="3840480" cy="1423886"/>
          </a:xfrm>
          <a:prstGeom prst="rect">
            <a:avLst/>
          </a:prstGeom>
        </p:spPr>
      </p:pic>
      <p:sp>
        <p:nvSpPr>
          <p:cNvPr id="3" name="Text 0"/>
          <p:cNvSpPr/>
          <p:nvPr>
            <p:ph idx="100" type="title" hasCustomPrompt="1"/>
          </p:nvPr>
        </p:nvSpPr>
        <p:spPr>
          <a:xfrm>
            <a:off x="731520" y="2743200"/>
            <a:ext cx="7498080" cy="1188720"/>
          </a:xfrm>
          <a:prstGeom prst="rect">
            <a:avLst/>
          </a:prstGeom>
          <a:noFill/>
          <a:ln/>
        </p:spPr>
        <p:txBody>
          <a:bodyPr wrap="square" lIns="0" tIns="0" rIns="0" bIns="0" rtlCol="0" anchor="t"/>
          <a:lstStyle/>
          <a:p>
            <a:pPr algn="l" indent="0" marL="0">
              <a:buNone/>
            </a:pPr>
            <a:r>
              <a:rPr lang="en-US" sz="4400" b="1" dirty="0">
                <a:solidFill>
                  <a:schemeClr val="bg1"/>
                </a:solidFill>
              </a:rPr>
              <a:t>On-device AI that stays cool</a:t>
            </a:r>
            <a:endParaRPr lang="en-US" sz="4400" dirty="0"/>
          </a:p>
        </p:txBody>
      </p:sp>
      <p:sp>
        <p:nvSpPr>
          <p:cNvPr id="4" name="Text 1"/>
          <p:cNvSpPr txBox="1"/>
          <p:nvPr/>
        </p:nvSpPr>
        <p:spPr>
          <a:xfrm>
            <a:off x="731520" y="3977640"/>
            <a:ext cx="6766560" cy="822960"/>
          </a:xfrm>
          <a:prstGeom prst="rect">
            <a:avLst/>
          </a:prstGeom>
          <a:noFill/>
          <a:ln/>
        </p:spPr>
        <p:txBody>
          <a:bodyPr wrap="square" lIns="0" tIns="0" rIns="0" bIns="0" rtlCol="0" anchor="t"/>
          <a:lstStyle/>
          <a:p>
            <a:pPr indent="0" marL="0">
              <a:buNone/>
            </a:pPr>
            <a:r>
              <a:rPr lang="en-US" sz="1800" dirty="0">
                <a:solidFill>
                  <a:srgbClr val="C9D3E3"/>
                </a:solidFill>
              </a:rPr>
              <a:t>LOOM splits any AI app into virtual chiplets and a runtime that balances them against the phone's real heat and battery.</a:t>
            </a:r>
            <a:endParaRPr lang="en-US" sz="1800" dirty="0"/>
          </a:p>
        </p:txBody>
      </p:sp>
      <p:sp>
        <p:nvSpPr>
          <p:cNvPr id="5" name="Text 2"/>
          <p:cNvSpPr txBox="1"/>
          <p:nvPr/>
        </p:nvSpPr>
        <p:spPr>
          <a:xfrm>
            <a:off x="731520" y="5989320"/>
            <a:ext cx="6400800" cy="365760"/>
          </a:xfrm>
          <a:prstGeom prst="rect">
            <a:avLst/>
          </a:prstGeom>
          <a:noFill/>
          <a:ln/>
        </p:spPr>
        <p:txBody>
          <a:bodyPr wrap="square" lIns="0" tIns="0" rIns="0" bIns="0" rtlCol="0" anchor="t"/>
          <a:lstStyle/>
          <a:p>
            <a:pPr indent="0" marL="0">
              <a:buNone/>
            </a:pPr>
            <a:r>
              <a:rPr lang="en-US" sz="1300" dirty="0">
                <a:solidFill>
                  <a:srgbClr val="8A94A6"/>
                </a:solidFill>
              </a:rPr>
              <a:t>iQOO Hackathon 2026 · built and measured on the iQOO 15</a:t>
            </a:r>
            <a:endParaRPr lang="en-US" sz="1300" dirty="0"/>
          </a:p>
        </p:txBody>
      </p:sp>
      <p:sp>
        <p:nvSpPr>
          <p:cNvPr id="6" name="headline stat card"/>
          <p:cNvSpPr/>
          <p:nvPr/>
        </p:nvSpPr>
        <p:spPr>
          <a:xfrm>
            <a:off x="8503920" y="1920240"/>
            <a:ext cx="3017520" cy="3017520"/>
          </a:xfrm>
          <a:prstGeom prst="roundRect">
            <a:avLst>
              <a:gd name="adj" fmla="val 6061"/>
            </a:avLst>
          </a:prstGeom>
          <a:solidFill>
            <a:srgbClr val="141C33"/>
          </a:solidFill>
          <a:ln w="12700">
            <a:solidFill>
              <a:srgbClr val="2A3A66"/>
            </a:solidFill>
            <a:prstDash val="solid"/>
          </a:ln>
        </p:spPr>
      </p:sp>
      <p:sp>
        <p:nvSpPr>
          <p:cNvPr id="7" name="Text 4"/>
          <p:cNvSpPr txBox="1"/>
          <p:nvPr/>
        </p:nvSpPr>
        <p:spPr>
          <a:xfrm>
            <a:off x="8503920" y="2331720"/>
            <a:ext cx="3017520" cy="1097280"/>
          </a:xfrm>
          <a:prstGeom prst="rect">
            <a:avLst/>
          </a:prstGeom>
          <a:noFill/>
          <a:ln/>
        </p:spPr>
        <p:txBody>
          <a:bodyPr wrap="square" lIns="0" tIns="0" rIns="0" bIns="0" rtlCol="0" anchor="t"/>
          <a:lstStyle/>
          <a:p>
            <a:pPr algn="ctr" indent="0" marL="0">
              <a:buNone/>
            </a:pPr>
            <a:r>
              <a:rPr lang="en-US" sz="6400" b="1" dirty="0">
                <a:solidFill>
                  <a:schemeClr val="accent6"/>
                </a:solidFill>
                <a:latin typeface="Arial" pitchFamily="34" charset="0"/>
                <a:ea typeface="Arial" pitchFamily="34" charset="-122"/>
                <a:cs typeface="Arial" pitchFamily="34" charset="-120"/>
              </a:rPr>
              <a:t>−44%</a:t>
            </a:r>
            <a:endParaRPr lang="en-US" sz="6400" dirty="0"/>
          </a:p>
        </p:txBody>
      </p:sp>
      <p:sp>
        <p:nvSpPr>
          <p:cNvPr id="8" name="Text 5"/>
          <p:cNvSpPr txBox="1"/>
          <p:nvPr/>
        </p:nvSpPr>
        <p:spPr>
          <a:xfrm>
            <a:off x="8503920" y="3429000"/>
            <a:ext cx="3017520" cy="365760"/>
          </a:xfrm>
          <a:prstGeom prst="rect">
            <a:avLst/>
          </a:prstGeom>
          <a:noFill/>
          <a:ln/>
        </p:spPr>
        <p:txBody>
          <a:bodyPr wrap="square" lIns="0" tIns="0" rIns="0" bIns="0" rtlCol="0" anchor="t"/>
          <a:lstStyle/>
          <a:p>
            <a:pPr algn="ctr" indent="0" marL="0">
              <a:buNone/>
            </a:pPr>
            <a:r>
              <a:rPr lang="en-US" sz="1800" b="1" dirty="0">
                <a:solidFill>
                  <a:schemeClr val="bg1"/>
                </a:solidFill>
              </a:rPr>
              <a:t>battery used</a:t>
            </a:r>
            <a:endParaRPr lang="en-US" sz="1800" dirty="0"/>
          </a:p>
        </p:txBody>
      </p:sp>
      <p:sp>
        <p:nvSpPr>
          <p:cNvPr id="9" name="Text 6"/>
          <p:cNvSpPr txBox="1"/>
          <p:nvPr/>
        </p:nvSpPr>
        <p:spPr>
          <a:xfrm>
            <a:off x="8503920" y="3886200"/>
            <a:ext cx="3017520" cy="731520"/>
          </a:xfrm>
          <a:prstGeom prst="rect">
            <a:avLst/>
          </a:prstGeom>
          <a:noFill/>
          <a:ln/>
        </p:spPr>
        <p:txBody>
          <a:bodyPr wrap="square" lIns="0" tIns="0" rIns="0" bIns="0" rtlCol="0" anchor="t"/>
          <a:lstStyle/>
          <a:p>
            <a:pPr algn="ctr" indent="0" marL="0">
              <a:buNone/>
            </a:pPr>
            <a:r>
              <a:rPr lang="en-US" sz="1300" dirty="0">
                <a:solidFill>
                  <a:srgbClr val="8A94A6"/>
                </a:solidFill>
              </a:rPr>
              <a:t>same phone, same AI job,</a:t>
            </a:r>
            <a:endParaRPr lang="en-US" sz="1300" dirty="0"/>
          </a:p>
          <a:p>
            <a:pPr algn="ctr" indent="0" marL="0">
              <a:buNone/>
            </a:pPr>
            <a:r>
              <a:rPr lang="en-US" sz="1300" dirty="0">
                <a:solidFill>
                  <a:srgbClr val="8A94A6"/>
                </a:solidFill>
              </a:rPr>
              <a:t>15 minutes each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On-device AI overheats, then slows down</a:t>
            </a:r>
            <a:endParaRPr lang="en-US" sz="3200" dirty="0"/>
          </a:p>
        </p:txBody>
      </p:sp>
      <p:sp>
        <p:nvSpPr>
          <p:cNvPr id="3" name="Text 1"/>
          <p:cNvSpPr txBox="1"/>
          <p:nvPr/>
        </p:nvSpPr>
        <p:spPr>
          <a:xfrm>
            <a:off x="548640" y="1234440"/>
            <a:ext cx="10972800" cy="457200"/>
          </a:xfrm>
          <a:prstGeom prst="rect">
            <a:avLst/>
          </a:prstGeom>
          <a:noFill/>
          <a:ln/>
        </p:spPr>
        <p:txBody>
          <a:bodyPr wrap="square" lIns="0" tIns="0" rIns="0" bIns="0" rtlCol="0" anchor="t"/>
          <a:lstStyle/>
          <a:p>
            <a:pPr indent="0" marL="0">
              <a:buNone/>
            </a:pPr>
            <a:r>
              <a:rPr lang="en-US" sz="1600" dirty="0">
                <a:solidFill>
                  <a:srgbClr val="5A6577"/>
                </a:solidFill>
              </a:rPr>
              <a:t>An ordinary app runs its AI at full power, all the time. We measured it on the iQOO 15 for 15 minutes:</a:t>
            </a:r>
            <a:endParaRPr lang="en-US" sz="1600" dirty="0"/>
          </a:p>
        </p:txBody>
      </p:sp>
      <p:sp>
        <p:nvSpPr>
          <p:cNvPr id="4" name="stat card 1"/>
          <p:cNvSpPr/>
          <p:nvPr/>
        </p:nvSpPr>
        <p:spPr>
          <a:xfrm>
            <a:off x="548640" y="1920240"/>
            <a:ext cx="2606040" cy="2743200"/>
          </a:xfrm>
          <a:prstGeom prst="roundRect">
            <a:avLst>
              <a:gd name="adj" fmla="val 4211"/>
            </a:avLst>
          </a:prstGeom>
          <a:solidFill>
            <a:schemeClr val="bg2"/>
          </a:solidFill>
          <a:ln/>
        </p:spPr>
      </p:sp>
      <p:sp>
        <p:nvSpPr>
          <p:cNvPr id="5" name="icon circle"/>
          <p:cNvSpPr/>
          <p:nvPr/>
        </p:nvSpPr>
        <p:spPr>
          <a:xfrm>
            <a:off x="822960" y="2194560"/>
            <a:ext cx="548640" cy="548640"/>
          </a:xfrm>
          <a:prstGeom prst="ellipse">
            <a:avLst/>
          </a:prstGeom>
          <a:solidFill>
            <a:srgbClr val="D9731A"/>
          </a:solidFill>
          <a:ln/>
        </p:spPr>
      </p:sp>
      <p:pic>
        <p:nvPicPr>
          <p:cNvPr id="6" name="icon FaThermometerHalf" descr="preencoded.png">    </p:cNvPr>
          <p:cNvPicPr>
            <a:picLocks noChangeAspect="1"/>
          </p:cNvPicPr>
          <p:nvPr/>
        </p:nvPicPr>
        <p:blipFill>
          <a:blip r:embed="rId1"/>
          <a:stretch>
            <a:fillRect/>
          </a:stretch>
        </p:blipFill>
        <p:spPr>
          <a:xfrm>
            <a:off x="960120" y="2331720"/>
            <a:ext cx="274320" cy="274320"/>
          </a:xfrm>
          <a:prstGeom prst="rect">
            <a:avLst/>
          </a:prstGeom>
        </p:spPr>
      </p:pic>
      <p:sp>
        <p:nvSpPr>
          <p:cNvPr id="7" name="Text 4"/>
          <p:cNvSpPr txBox="1"/>
          <p:nvPr/>
        </p:nvSpPr>
        <p:spPr>
          <a:xfrm>
            <a:off x="822960" y="2926080"/>
            <a:ext cx="2240280" cy="685800"/>
          </a:xfrm>
          <a:prstGeom prst="rect">
            <a:avLst/>
          </a:prstGeom>
          <a:noFill/>
          <a:ln/>
        </p:spPr>
        <p:txBody>
          <a:bodyPr wrap="square" lIns="0" tIns="0" rIns="0" bIns="0" rtlCol="0" anchor="t"/>
          <a:lstStyle/>
          <a:p>
            <a:pPr indent="0" marL="0">
              <a:buNone/>
            </a:pPr>
            <a:r>
              <a:rPr lang="en-US" sz="2600" b="1" dirty="0">
                <a:solidFill>
                  <a:schemeClr val="accent4"/>
                </a:solidFill>
                <a:latin typeface="Arial" pitchFamily="34" charset="0"/>
                <a:ea typeface="Arial" pitchFamily="34" charset="-122"/>
                <a:cs typeface="Arial" pitchFamily="34" charset="-120"/>
              </a:rPr>
              <a:t>0.61 → 0.98</a:t>
            </a:r>
            <a:endParaRPr lang="en-US" sz="2600" dirty="0"/>
          </a:p>
        </p:txBody>
      </p:sp>
      <p:sp>
        <p:nvSpPr>
          <p:cNvPr id="8" name="Text 5"/>
          <p:cNvSpPr txBox="1"/>
          <p:nvPr/>
        </p:nvSpPr>
        <p:spPr>
          <a:xfrm>
            <a:off x="822960" y="3639312"/>
            <a:ext cx="2148840" cy="365760"/>
          </a:xfrm>
          <a:prstGeom prst="rect">
            <a:avLst/>
          </a:prstGeom>
          <a:noFill/>
          <a:ln/>
        </p:spPr>
        <p:txBody>
          <a:bodyPr wrap="square" lIns="0" tIns="0" rIns="0" bIns="0" rtlCol="0" anchor="t"/>
          <a:lstStyle/>
          <a:p>
            <a:pPr indent="0" marL="0">
              <a:buNone/>
            </a:pPr>
            <a:r>
              <a:rPr lang="en-US" sz="1500" b="1" dirty="0">
                <a:solidFill>
                  <a:schemeClr val="tx1"/>
                </a:solidFill>
              </a:rPr>
              <a:t>Heat (thermal headroom)</a:t>
            </a:r>
            <a:endParaRPr lang="en-US" sz="1500" dirty="0"/>
          </a:p>
        </p:txBody>
      </p:sp>
      <p:sp>
        <p:nvSpPr>
          <p:cNvPr id="9" name="Text 6"/>
          <p:cNvSpPr txBox="1"/>
          <p:nvPr/>
        </p:nvSpPr>
        <p:spPr>
          <a:xfrm>
            <a:off x="822960" y="4023360"/>
            <a:ext cx="2148840" cy="457200"/>
          </a:xfrm>
          <a:prstGeom prst="rect">
            <a:avLst/>
          </a:prstGeom>
          <a:noFill/>
          <a:ln/>
        </p:spPr>
        <p:txBody>
          <a:bodyPr wrap="square" lIns="0" tIns="0" rIns="0" bIns="0" rtlCol="0" anchor="t"/>
          <a:lstStyle/>
          <a:p>
            <a:pPr indent="0" marL="0">
              <a:buNone/>
            </a:pPr>
            <a:r>
              <a:rPr lang="en-US" sz="1300" dirty="0">
                <a:solidFill>
                  <a:srgbClr val="5A6577"/>
                </a:solidFill>
              </a:rPr>
              <a:t>1.0 is where Android throttles hard</a:t>
            </a:r>
            <a:endParaRPr lang="en-US" sz="1300" dirty="0"/>
          </a:p>
        </p:txBody>
      </p:sp>
      <p:sp>
        <p:nvSpPr>
          <p:cNvPr id="10" name="stat card 2"/>
          <p:cNvSpPr/>
          <p:nvPr/>
        </p:nvSpPr>
        <p:spPr>
          <a:xfrm>
            <a:off x="3367735" y="1920240"/>
            <a:ext cx="2606040" cy="2743200"/>
          </a:xfrm>
          <a:prstGeom prst="roundRect">
            <a:avLst>
              <a:gd name="adj" fmla="val 4211"/>
            </a:avLst>
          </a:prstGeom>
          <a:solidFill>
            <a:schemeClr val="bg2"/>
          </a:solidFill>
          <a:ln/>
        </p:spPr>
      </p:sp>
      <p:sp>
        <p:nvSpPr>
          <p:cNvPr id="11" name="icon circle"/>
          <p:cNvSpPr/>
          <p:nvPr/>
        </p:nvSpPr>
        <p:spPr>
          <a:xfrm>
            <a:off x="3642055" y="2194560"/>
            <a:ext cx="548640" cy="548640"/>
          </a:xfrm>
          <a:prstGeom prst="ellipse">
            <a:avLst/>
          </a:prstGeom>
          <a:solidFill>
            <a:srgbClr val="D9731A"/>
          </a:solidFill>
          <a:ln/>
        </p:spPr>
      </p:sp>
      <p:pic>
        <p:nvPicPr>
          <p:cNvPr id="12" name="icon FaBatteryQuarter" descr="preencoded.png">    </p:cNvPr>
          <p:cNvPicPr>
            <a:picLocks noChangeAspect="1"/>
          </p:cNvPicPr>
          <p:nvPr/>
        </p:nvPicPr>
        <p:blipFill>
          <a:blip r:embed="rId2"/>
          <a:stretch>
            <a:fillRect/>
          </a:stretch>
        </p:blipFill>
        <p:spPr>
          <a:xfrm>
            <a:off x="3779215" y="2331720"/>
            <a:ext cx="274320" cy="274320"/>
          </a:xfrm>
          <a:prstGeom prst="rect">
            <a:avLst/>
          </a:prstGeom>
        </p:spPr>
      </p:pic>
      <p:sp>
        <p:nvSpPr>
          <p:cNvPr id="13" name="Text 9"/>
          <p:cNvSpPr txBox="1"/>
          <p:nvPr/>
        </p:nvSpPr>
        <p:spPr>
          <a:xfrm>
            <a:off x="3642055" y="2926080"/>
            <a:ext cx="2240280" cy="685800"/>
          </a:xfrm>
          <a:prstGeom prst="rect">
            <a:avLst/>
          </a:prstGeom>
          <a:noFill/>
          <a:ln/>
        </p:spPr>
        <p:txBody>
          <a:bodyPr wrap="square" lIns="0" tIns="0" rIns="0" bIns="0" rtlCol="0" anchor="t"/>
          <a:lstStyle/>
          <a:p>
            <a:pPr indent="0" marL="0">
              <a:buNone/>
            </a:pPr>
            <a:r>
              <a:rPr lang="en-US" sz="2600" b="1" dirty="0">
                <a:solidFill>
                  <a:schemeClr val="accent4"/>
                </a:solidFill>
                <a:latin typeface="Arial" pitchFamily="34" charset="0"/>
                <a:ea typeface="Arial" pitchFamily="34" charset="-122"/>
                <a:cs typeface="Arial" pitchFamily="34" charset="-120"/>
              </a:rPr>
              <a:t>1,048 mA</a:t>
            </a:r>
            <a:endParaRPr lang="en-US" sz="2600" dirty="0"/>
          </a:p>
        </p:txBody>
      </p:sp>
      <p:sp>
        <p:nvSpPr>
          <p:cNvPr id="14" name="Text 10"/>
          <p:cNvSpPr txBox="1"/>
          <p:nvPr/>
        </p:nvSpPr>
        <p:spPr>
          <a:xfrm>
            <a:off x="3642055" y="3639312"/>
            <a:ext cx="2148840" cy="365760"/>
          </a:xfrm>
          <a:prstGeom prst="rect">
            <a:avLst/>
          </a:prstGeom>
          <a:noFill/>
          <a:ln/>
        </p:spPr>
        <p:txBody>
          <a:bodyPr wrap="square" lIns="0" tIns="0" rIns="0" bIns="0" rtlCol="0" anchor="t"/>
          <a:lstStyle/>
          <a:p>
            <a:pPr indent="0" marL="0">
              <a:buNone/>
            </a:pPr>
            <a:r>
              <a:rPr lang="en-US" sz="1500" b="1" dirty="0">
                <a:solidFill>
                  <a:schemeClr val="tx1"/>
                </a:solidFill>
              </a:rPr>
              <a:t>Battery draw, all the time</a:t>
            </a:r>
            <a:endParaRPr lang="en-US" sz="1500" dirty="0"/>
          </a:p>
        </p:txBody>
      </p:sp>
      <p:sp>
        <p:nvSpPr>
          <p:cNvPr id="15" name="Text 11"/>
          <p:cNvSpPr txBox="1"/>
          <p:nvPr/>
        </p:nvSpPr>
        <p:spPr>
          <a:xfrm>
            <a:off x="3642055" y="4023360"/>
            <a:ext cx="2148840" cy="457200"/>
          </a:xfrm>
          <a:prstGeom prst="rect">
            <a:avLst/>
          </a:prstGeom>
          <a:noFill/>
          <a:ln/>
        </p:spPr>
        <p:txBody>
          <a:bodyPr wrap="square" lIns="0" tIns="0" rIns="0" bIns="0" rtlCol="0" anchor="t"/>
          <a:lstStyle/>
          <a:p>
            <a:pPr indent="0" marL="0">
              <a:buNone/>
            </a:pPr>
            <a:r>
              <a:rPr lang="en-US" sz="1300" dirty="0">
                <a:solidFill>
                  <a:srgbClr val="5A6577"/>
                </a:solidFill>
              </a:rPr>
              <a:t>median over the run</a:t>
            </a:r>
            <a:endParaRPr lang="en-US" sz="1300" dirty="0"/>
          </a:p>
        </p:txBody>
      </p:sp>
      <p:sp>
        <p:nvSpPr>
          <p:cNvPr id="16" name="stat card 3"/>
          <p:cNvSpPr/>
          <p:nvPr/>
        </p:nvSpPr>
        <p:spPr>
          <a:xfrm>
            <a:off x="6186830" y="1920240"/>
            <a:ext cx="2606040" cy="2743200"/>
          </a:xfrm>
          <a:prstGeom prst="roundRect">
            <a:avLst>
              <a:gd name="adj" fmla="val 4211"/>
            </a:avLst>
          </a:prstGeom>
          <a:solidFill>
            <a:schemeClr val="bg2"/>
          </a:solidFill>
          <a:ln/>
        </p:spPr>
      </p:sp>
      <p:sp>
        <p:nvSpPr>
          <p:cNvPr id="17" name="icon circle"/>
          <p:cNvSpPr/>
          <p:nvPr/>
        </p:nvSpPr>
        <p:spPr>
          <a:xfrm>
            <a:off x="6461150" y="2194560"/>
            <a:ext cx="548640" cy="548640"/>
          </a:xfrm>
          <a:prstGeom prst="ellipse">
            <a:avLst/>
          </a:prstGeom>
          <a:solidFill>
            <a:srgbClr val="D9731A"/>
          </a:solidFill>
          <a:ln/>
        </p:spPr>
      </p:sp>
      <p:pic>
        <p:nvPicPr>
          <p:cNvPr id="18" name="icon FaTachometerAlt" descr="preencoded.png">    </p:cNvPr>
          <p:cNvPicPr>
            <a:picLocks noChangeAspect="1"/>
          </p:cNvPicPr>
          <p:nvPr/>
        </p:nvPicPr>
        <p:blipFill>
          <a:blip r:embed="rId3"/>
          <a:stretch>
            <a:fillRect/>
          </a:stretch>
        </p:blipFill>
        <p:spPr>
          <a:xfrm>
            <a:off x="6598310" y="2331720"/>
            <a:ext cx="274320" cy="274320"/>
          </a:xfrm>
          <a:prstGeom prst="rect">
            <a:avLst/>
          </a:prstGeom>
        </p:spPr>
      </p:pic>
      <p:sp>
        <p:nvSpPr>
          <p:cNvPr id="19" name="Text 14"/>
          <p:cNvSpPr txBox="1"/>
          <p:nvPr/>
        </p:nvSpPr>
        <p:spPr>
          <a:xfrm>
            <a:off x="6461150" y="2926080"/>
            <a:ext cx="2240280" cy="685800"/>
          </a:xfrm>
          <a:prstGeom prst="rect">
            <a:avLst/>
          </a:prstGeom>
          <a:noFill/>
          <a:ln/>
        </p:spPr>
        <p:txBody>
          <a:bodyPr wrap="square" lIns="0" tIns="0" rIns="0" bIns="0" rtlCol="0" anchor="t"/>
          <a:lstStyle/>
          <a:p>
            <a:pPr indent="0" marL="0">
              <a:buNone/>
            </a:pPr>
            <a:r>
              <a:rPr lang="en-US" sz="2600" b="1" dirty="0">
                <a:solidFill>
                  <a:schemeClr val="accent4"/>
                </a:solidFill>
                <a:latin typeface="Arial" pitchFamily="34" charset="0"/>
                <a:ea typeface="Arial" pitchFamily="34" charset="-122"/>
                <a:cs typeface="Arial" pitchFamily="34" charset="-120"/>
              </a:rPr>
              <a:t>18.7 → 12</a:t>
            </a:r>
            <a:endParaRPr lang="en-US" sz="2600" dirty="0"/>
          </a:p>
        </p:txBody>
      </p:sp>
      <p:sp>
        <p:nvSpPr>
          <p:cNvPr id="20" name="Text 15"/>
          <p:cNvSpPr txBox="1"/>
          <p:nvPr/>
        </p:nvSpPr>
        <p:spPr>
          <a:xfrm>
            <a:off x="6461150" y="3639312"/>
            <a:ext cx="2148840" cy="365760"/>
          </a:xfrm>
          <a:prstGeom prst="rect">
            <a:avLst/>
          </a:prstGeom>
          <a:noFill/>
          <a:ln/>
        </p:spPr>
        <p:txBody>
          <a:bodyPr wrap="square" lIns="0" tIns="0" rIns="0" bIns="0" rtlCol="0" anchor="t"/>
          <a:lstStyle/>
          <a:p>
            <a:pPr indent="0" marL="0">
              <a:buNone/>
            </a:pPr>
            <a:r>
              <a:rPr lang="en-US" sz="1500" b="1" dirty="0">
                <a:solidFill>
                  <a:schemeClr val="tx1"/>
                </a:solidFill>
              </a:rPr>
              <a:t>Frames per second</a:t>
            </a:r>
            <a:endParaRPr lang="en-US" sz="1500" dirty="0"/>
          </a:p>
        </p:txBody>
      </p:sp>
      <p:sp>
        <p:nvSpPr>
          <p:cNvPr id="21" name="Text 16"/>
          <p:cNvSpPr txBox="1"/>
          <p:nvPr/>
        </p:nvSpPr>
        <p:spPr>
          <a:xfrm>
            <a:off x="6461150" y="4023360"/>
            <a:ext cx="2148840" cy="457200"/>
          </a:xfrm>
          <a:prstGeom prst="rect">
            <a:avLst/>
          </a:prstGeom>
          <a:noFill/>
          <a:ln/>
        </p:spPr>
        <p:txBody>
          <a:bodyPr wrap="square" lIns="0" tIns="0" rIns="0" bIns="0" rtlCol="0" anchor="t"/>
          <a:lstStyle/>
          <a:p>
            <a:pPr indent="0" marL="0">
              <a:buNone/>
            </a:pPr>
            <a:r>
              <a:rPr lang="en-US" sz="1300" dirty="0">
                <a:solidFill>
                  <a:srgbClr val="5A6577"/>
                </a:solidFill>
              </a:rPr>
              <a:t>the chip throttled itself</a:t>
            </a:r>
            <a:endParaRPr lang="en-US" sz="1300" dirty="0"/>
          </a:p>
        </p:txBody>
      </p:sp>
      <p:sp>
        <p:nvSpPr>
          <p:cNvPr id="22" name="stat card 4"/>
          <p:cNvSpPr/>
          <p:nvPr/>
        </p:nvSpPr>
        <p:spPr>
          <a:xfrm>
            <a:off x="9005926" y="1920240"/>
            <a:ext cx="2606040" cy="2743200"/>
          </a:xfrm>
          <a:prstGeom prst="roundRect">
            <a:avLst>
              <a:gd name="adj" fmla="val 4211"/>
            </a:avLst>
          </a:prstGeom>
          <a:solidFill>
            <a:schemeClr val="bg2"/>
          </a:solidFill>
          <a:ln/>
        </p:spPr>
      </p:sp>
      <p:sp>
        <p:nvSpPr>
          <p:cNvPr id="23" name="icon circle"/>
          <p:cNvSpPr/>
          <p:nvPr/>
        </p:nvSpPr>
        <p:spPr>
          <a:xfrm>
            <a:off x="9280246" y="2194560"/>
            <a:ext cx="548640" cy="548640"/>
          </a:xfrm>
          <a:prstGeom prst="ellipse">
            <a:avLst/>
          </a:prstGeom>
          <a:solidFill>
            <a:srgbClr val="D9731A"/>
          </a:solidFill>
          <a:ln/>
        </p:spPr>
      </p:sp>
      <p:pic>
        <p:nvPicPr>
          <p:cNvPr id="24" name="icon FaExclamationTriangle" descr="preencoded.png">    </p:cNvPr>
          <p:cNvPicPr>
            <a:picLocks noChangeAspect="1"/>
          </p:cNvPicPr>
          <p:nvPr/>
        </p:nvPicPr>
        <p:blipFill>
          <a:blip r:embed="rId4"/>
          <a:stretch>
            <a:fillRect/>
          </a:stretch>
        </p:blipFill>
        <p:spPr>
          <a:xfrm>
            <a:off x="9417406" y="2331720"/>
            <a:ext cx="274320" cy="274320"/>
          </a:xfrm>
          <a:prstGeom prst="rect">
            <a:avLst/>
          </a:prstGeom>
        </p:spPr>
      </p:pic>
      <p:sp>
        <p:nvSpPr>
          <p:cNvPr id="25" name="Text 19"/>
          <p:cNvSpPr txBox="1"/>
          <p:nvPr/>
        </p:nvSpPr>
        <p:spPr>
          <a:xfrm>
            <a:off x="9280246" y="2926080"/>
            <a:ext cx="2240280" cy="685800"/>
          </a:xfrm>
          <a:prstGeom prst="rect">
            <a:avLst/>
          </a:prstGeom>
          <a:noFill/>
          <a:ln/>
        </p:spPr>
        <p:txBody>
          <a:bodyPr wrap="square" lIns="0" tIns="0" rIns="0" bIns="0" rtlCol="0" anchor="t"/>
          <a:lstStyle/>
          <a:p>
            <a:pPr indent="0" marL="0">
              <a:buNone/>
            </a:pPr>
            <a:r>
              <a:rPr lang="en-US" sz="2600" b="1" dirty="0">
                <a:solidFill>
                  <a:schemeClr val="accent4"/>
                </a:solidFill>
                <a:latin typeface="Arial" pitchFamily="34" charset="0"/>
                <a:ea typeface="Arial" pitchFamily="34" charset="-122"/>
                <a:cs typeface="Arial" pitchFamily="34" charset="-120"/>
              </a:rPr>
              <a:t>MODERATE</a:t>
            </a:r>
            <a:endParaRPr lang="en-US" sz="2600" dirty="0"/>
          </a:p>
        </p:txBody>
      </p:sp>
      <p:sp>
        <p:nvSpPr>
          <p:cNvPr id="26" name="Text 20"/>
          <p:cNvSpPr txBox="1"/>
          <p:nvPr/>
        </p:nvSpPr>
        <p:spPr>
          <a:xfrm>
            <a:off x="9280246" y="3639312"/>
            <a:ext cx="2148840" cy="365760"/>
          </a:xfrm>
          <a:prstGeom prst="rect">
            <a:avLst/>
          </a:prstGeom>
          <a:noFill/>
          <a:ln/>
        </p:spPr>
        <p:txBody>
          <a:bodyPr wrap="square" lIns="0" tIns="0" rIns="0" bIns="0" rtlCol="0" anchor="t"/>
          <a:lstStyle/>
          <a:p>
            <a:pPr indent="0" marL="0">
              <a:buNone/>
            </a:pPr>
            <a:r>
              <a:rPr lang="en-US" sz="1500" b="1" dirty="0">
                <a:solidFill>
                  <a:schemeClr val="tx1"/>
                </a:solidFill>
              </a:rPr>
              <a:t>Android thermal status</a:t>
            </a:r>
            <a:endParaRPr lang="en-US" sz="1500" dirty="0"/>
          </a:p>
        </p:txBody>
      </p:sp>
      <p:sp>
        <p:nvSpPr>
          <p:cNvPr id="27" name="Text 21"/>
          <p:cNvSpPr txBox="1"/>
          <p:nvPr/>
        </p:nvSpPr>
        <p:spPr>
          <a:xfrm>
            <a:off x="9280246" y="4023360"/>
            <a:ext cx="2148840" cy="457200"/>
          </a:xfrm>
          <a:prstGeom prst="rect">
            <a:avLst/>
          </a:prstGeom>
          <a:noFill/>
          <a:ln/>
        </p:spPr>
        <p:txBody>
          <a:bodyPr wrap="square" lIns="0" tIns="0" rIns="0" bIns="0" rtlCol="0" anchor="t"/>
          <a:lstStyle/>
          <a:p>
            <a:pPr indent="0" marL="0">
              <a:buNone/>
            </a:pPr>
            <a:r>
              <a:rPr lang="en-US" sz="1300" dirty="0">
                <a:solidFill>
                  <a:srgbClr val="5A6577"/>
                </a:solidFill>
              </a:rPr>
              <a:t>and SEVERE if left on longer</a:t>
            </a:r>
            <a:endParaRPr lang="en-US" sz="1300" dirty="0"/>
          </a:p>
        </p:txBody>
      </p:sp>
      <p:sp>
        <p:nvSpPr>
          <p:cNvPr id="28" name="takeaway"/>
          <p:cNvSpPr/>
          <p:nvPr/>
        </p:nvSpPr>
        <p:spPr>
          <a:xfrm>
            <a:off x="548640" y="4983480"/>
            <a:ext cx="11064240" cy="1005840"/>
          </a:xfrm>
          <a:prstGeom prst="roundRect">
            <a:avLst>
              <a:gd name="adj" fmla="val 10909"/>
            </a:avLst>
          </a:prstGeom>
          <a:solidFill>
            <a:srgbClr val="FFF4EA"/>
          </a:solidFill>
          <a:ln/>
        </p:spPr>
      </p:sp>
      <p:sp>
        <p:nvSpPr>
          <p:cNvPr id="29" name="Text 23"/>
          <p:cNvSpPr txBox="1"/>
          <p:nvPr/>
        </p:nvSpPr>
        <p:spPr>
          <a:xfrm>
            <a:off x="822960" y="4983480"/>
            <a:ext cx="10515600" cy="1005840"/>
          </a:xfrm>
          <a:prstGeom prst="rect">
            <a:avLst/>
          </a:prstGeom>
          <a:noFill/>
          <a:ln/>
        </p:spPr>
        <p:txBody>
          <a:bodyPr wrap="square" lIns="0" tIns="0" rIns="0" bIns="0" rtlCol="0" anchor="ctr"/>
          <a:lstStyle/>
          <a:p>
            <a:pPr indent="0" marL="0">
              <a:buNone/>
            </a:pPr>
            <a:r>
              <a:rPr lang="en-US" sz="1700" b="1" dirty="0">
                <a:solidFill>
                  <a:schemeClr val="accent4"/>
                </a:solidFill>
              </a:rPr>
              <a:t>Full price in battery and heat, and it still gets slower. </a:t>
            </a:r>
            <a:pPr indent="0" marL="0">
              <a:buNone/>
            </a:pPr>
            <a:r>
              <a:rPr lang="en-US" sz="1700" dirty="0">
                <a:solidFill>
                  <a:schemeClr val="tx1"/>
                </a:solidFill>
              </a:rPr>
              <a:t>That's every on-device AI app today: camera models, chatbots, game AI.</a:t>
            </a:r>
            <a:endParaRPr lang="en-US" sz="17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insight: an AI app is several jobs, not one</a:t>
            </a:r>
            <a:endParaRPr lang="en-US" sz="3200" dirty="0"/>
          </a:p>
        </p:txBody>
      </p:sp>
      <p:sp>
        <p:nvSpPr>
          <p:cNvPr id="3" name="job card 1"/>
          <p:cNvSpPr/>
          <p:nvPr/>
        </p:nvSpPr>
        <p:spPr>
          <a:xfrm>
            <a:off x="548640" y="1508760"/>
            <a:ext cx="2468880" cy="2377440"/>
          </a:xfrm>
          <a:prstGeom prst="roundRect">
            <a:avLst>
              <a:gd name="adj" fmla="val 4615"/>
            </a:avLst>
          </a:prstGeom>
          <a:solidFill>
            <a:schemeClr val="bg2"/>
          </a:solidFill>
          <a:ln/>
        </p:spPr>
      </p:sp>
      <p:sp>
        <p:nvSpPr>
          <p:cNvPr id="4" name="icon circle"/>
          <p:cNvSpPr/>
          <p:nvPr/>
        </p:nvSpPr>
        <p:spPr>
          <a:xfrm>
            <a:off x="1417320" y="1783080"/>
            <a:ext cx="731520" cy="731520"/>
          </a:xfrm>
          <a:prstGeom prst="ellipse">
            <a:avLst/>
          </a:prstGeom>
          <a:solidFill>
            <a:srgbClr val="0A8FC2"/>
          </a:solidFill>
          <a:ln/>
        </p:spPr>
      </p:sp>
      <p:pic>
        <p:nvPicPr>
          <p:cNvPr id="5" name="icon FaCamera" descr="preencoded.png">    </p:cNvPr>
          <p:cNvPicPr>
            <a:picLocks noChangeAspect="1"/>
          </p:cNvPicPr>
          <p:nvPr/>
        </p:nvPicPr>
        <p:blipFill>
          <a:blip r:embed="rId1"/>
          <a:stretch>
            <a:fillRect/>
          </a:stretch>
        </p:blipFill>
        <p:spPr>
          <a:xfrm>
            <a:off x="1600200" y="1965960"/>
            <a:ext cx="365760" cy="365760"/>
          </a:xfrm>
          <a:prstGeom prst="rect">
            <a:avLst/>
          </a:prstGeom>
        </p:spPr>
      </p:pic>
      <p:sp>
        <p:nvSpPr>
          <p:cNvPr id="6" name="Text 3"/>
          <p:cNvSpPr txBox="1"/>
          <p:nvPr/>
        </p:nvSpPr>
        <p:spPr>
          <a:xfrm>
            <a:off x="548640" y="2697480"/>
            <a:ext cx="2468880" cy="411480"/>
          </a:xfrm>
          <a:prstGeom prst="rect">
            <a:avLst/>
          </a:prstGeom>
          <a:noFill/>
          <a:ln/>
        </p:spPr>
        <p:txBody>
          <a:bodyPr wrap="square" lIns="0" tIns="0" rIns="0" bIns="0" rtlCol="0" anchor="t"/>
          <a:lstStyle/>
          <a:p>
            <a:pPr algn="ctr" indent="0" marL="0">
              <a:buNone/>
            </a:pPr>
            <a:r>
              <a:rPr lang="en-US" sz="2000" b="1" dirty="0">
                <a:solidFill>
                  <a:schemeClr val="tx1"/>
                </a:solidFill>
              </a:rPr>
              <a:t>Input</a:t>
            </a:r>
            <a:endParaRPr lang="en-US" sz="2000" dirty="0"/>
          </a:p>
        </p:txBody>
      </p:sp>
      <p:sp>
        <p:nvSpPr>
          <p:cNvPr id="7" name="Text 4"/>
          <p:cNvSpPr txBox="1"/>
          <p:nvPr/>
        </p:nvSpPr>
        <p:spPr>
          <a:xfrm>
            <a:off x="731520" y="3154680"/>
            <a:ext cx="2103120" cy="548640"/>
          </a:xfrm>
          <a:prstGeom prst="rect">
            <a:avLst/>
          </a:prstGeom>
          <a:noFill/>
          <a:ln/>
        </p:spPr>
        <p:txBody>
          <a:bodyPr wrap="square" lIns="0" tIns="0" rIns="0" bIns="0" rtlCol="0" anchor="t"/>
          <a:lstStyle/>
          <a:p>
            <a:pPr algn="ctr" indent="0" marL="0">
              <a:buNone/>
            </a:pPr>
            <a:r>
              <a:rPr lang="en-US" sz="1400" dirty="0">
                <a:solidFill>
                  <a:srgbClr val="5A6577"/>
                </a:solidFill>
              </a:rPr>
              <a:t>camera, microphone, sensors</a:t>
            </a:r>
            <a:endParaRPr lang="en-US" sz="1400" dirty="0"/>
          </a:p>
        </p:txBody>
      </p:sp>
      <p:sp>
        <p:nvSpPr>
          <p:cNvPr id="8" name="Text 5"/>
          <p:cNvSpPr txBox="1"/>
          <p:nvPr/>
        </p:nvSpPr>
        <p:spPr>
          <a:xfrm>
            <a:off x="3017520" y="2377440"/>
            <a:ext cx="365760" cy="548640"/>
          </a:xfrm>
          <a:prstGeom prst="rect">
            <a:avLst/>
          </a:prstGeom>
          <a:noFill/>
          <a:ln/>
        </p:spPr>
        <p:txBody>
          <a:bodyPr wrap="square" lIns="0" tIns="0" rIns="0" bIns="0" rtlCol="0" anchor="t"/>
          <a:lstStyle/>
          <a:p>
            <a:pPr algn="ctr" indent="0" marL="0">
              <a:buNone/>
            </a:pPr>
            <a:r>
              <a:rPr lang="en-US" sz="2800" b="1" dirty="0">
                <a:solidFill>
                  <a:srgbClr val="5A6577"/>
                </a:solidFill>
              </a:rPr>
              <a:t>+</a:t>
            </a:r>
            <a:endParaRPr lang="en-US" sz="2800" dirty="0"/>
          </a:p>
        </p:txBody>
      </p:sp>
      <p:sp>
        <p:nvSpPr>
          <p:cNvPr id="9" name="job card 2"/>
          <p:cNvSpPr/>
          <p:nvPr/>
        </p:nvSpPr>
        <p:spPr>
          <a:xfrm>
            <a:off x="3383280" y="1508760"/>
            <a:ext cx="2468880" cy="2377440"/>
          </a:xfrm>
          <a:prstGeom prst="roundRect">
            <a:avLst>
              <a:gd name="adj" fmla="val 4615"/>
            </a:avLst>
          </a:prstGeom>
          <a:solidFill>
            <a:schemeClr val="bg2"/>
          </a:solidFill>
          <a:ln/>
        </p:spPr>
      </p:sp>
      <p:sp>
        <p:nvSpPr>
          <p:cNvPr id="10" name="icon circle"/>
          <p:cNvSpPr/>
          <p:nvPr/>
        </p:nvSpPr>
        <p:spPr>
          <a:xfrm>
            <a:off x="4251960" y="1783080"/>
            <a:ext cx="731520" cy="731520"/>
          </a:xfrm>
          <a:prstGeom prst="ellipse">
            <a:avLst/>
          </a:prstGeom>
          <a:solidFill>
            <a:srgbClr val="0A8FC2"/>
          </a:solidFill>
          <a:ln/>
        </p:spPr>
      </p:sp>
      <p:pic>
        <p:nvPicPr>
          <p:cNvPr id="11" name="icon FaBrain" descr="preencoded.png">    </p:cNvPr>
          <p:cNvPicPr>
            <a:picLocks noChangeAspect="1"/>
          </p:cNvPicPr>
          <p:nvPr/>
        </p:nvPicPr>
        <p:blipFill>
          <a:blip r:embed="rId2"/>
          <a:stretch>
            <a:fillRect/>
          </a:stretch>
        </p:blipFill>
        <p:spPr>
          <a:xfrm>
            <a:off x="4434840" y="1965960"/>
            <a:ext cx="365760" cy="365760"/>
          </a:xfrm>
          <a:prstGeom prst="rect">
            <a:avLst/>
          </a:prstGeom>
        </p:spPr>
      </p:pic>
      <p:sp>
        <p:nvSpPr>
          <p:cNvPr id="12" name="Text 8"/>
          <p:cNvSpPr txBox="1"/>
          <p:nvPr/>
        </p:nvSpPr>
        <p:spPr>
          <a:xfrm>
            <a:off x="3383280" y="2697480"/>
            <a:ext cx="2468880" cy="411480"/>
          </a:xfrm>
          <a:prstGeom prst="rect">
            <a:avLst/>
          </a:prstGeom>
          <a:noFill/>
          <a:ln/>
        </p:spPr>
        <p:txBody>
          <a:bodyPr wrap="square" lIns="0" tIns="0" rIns="0" bIns="0" rtlCol="0" anchor="t"/>
          <a:lstStyle/>
          <a:p>
            <a:pPr algn="ctr" indent="0" marL="0">
              <a:buNone/>
            </a:pPr>
            <a:r>
              <a:rPr lang="en-US" sz="2000" b="1" dirty="0">
                <a:solidFill>
                  <a:schemeClr val="tx1"/>
                </a:solidFill>
              </a:rPr>
              <a:t>Model</a:t>
            </a:r>
            <a:endParaRPr lang="en-US" sz="2000" dirty="0"/>
          </a:p>
        </p:txBody>
      </p:sp>
      <p:sp>
        <p:nvSpPr>
          <p:cNvPr id="13" name="Text 9"/>
          <p:cNvSpPr txBox="1"/>
          <p:nvPr/>
        </p:nvSpPr>
        <p:spPr>
          <a:xfrm>
            <a:off x="3566160" y="3154680"/>
            <a:ext cx="2103120" cy="548640"/>
          </a:xfrm>
          <a:prstGeom prst="rect">
            <a:avLst/>
          </a:prstGeom>
          <a:noFill/>
          <a:ln/>
        </p:spPr>
        <p:txBody>
          <a:bodyPr wrap="square" lIns="0" tIns="0" rIns="0" bIns="0" rtlCol="0" anchor="t"/>
          <a:lstStyle/>
          <a:p>
            <a:pPr algn="ctr" indent="0" marL="0">
              <a:buNone/>
            </a:pPr>
            <a:r>
              <a:rPr lang="en-US" sz="1400" dirty="0">
                <a:solidFill>
                  <a:srgbClr val="5A6577"/>
                </a:solidFill>
              </a:rPr>
              <a:t>the AI itself, big or small</a:t>
            </a:r>
            <a:endParaRPr lang="en-US" sz="1400" dirty="0"/>
          </a:p>
        </p:txBody>
      </p:sp>
      <p:sp>
        <p:nvSpPr>
          <p:cNvPr id="14" name="Text 10"/>
          <p:cNvSpPr txBox="1"/>
          <p:nvPr/>
        </p:nvSpPr>
        <p:spPr>
          <a:xfrm>
            <a:off x="5852160" y="2377440"/>
            <a:ext cx="365760" cy="548640"/>
          </a:xfrm>
          <a:prstGeom prst="rect">
            <a:avLst/>
          </a:prstGeom>
          <a:noFill/>
          <a:ln/>
        </p:spPr>
        <p:txBody>
          <a:bodyPr wrap="square" lIns="0" tIns="0" rIns="0" bIns="0" rtlCol="0" anchor="t"/>
          <a:lstStyle/>
          <a:p>
            <a:pPr algn="ctr" indent="0" marL="0">
              <a:buNone/>
            </a:pPr>
            <a:r>
              <a:rPr lang="en-US" sz="2800" b="1" dirty="0">
                <a:solidFill>
                  <a:srgbClr val="5A6577"/>
                </a:solidFill>
              </a:rPr>
              <a:t>+</a:t>
            </a:r>
            <a:endParaRPr lang="en-US" sz="2800" dirty="0"/>
          </a:p>
        </p:txBody>
      </p:sp>
      <p:sp>
        <p:nvSpPr>
          <p:cNvPr id="15" name="job card 3"/>
          <p:cNvSpPr/>
          <p:nvPr/>
        </p:nvSpPr>
        <p:spPr>
          <a:xfrm>
            <a:off x="6217920" y="1508760"/>
            <a:ext cx="2468880" cy="2377440"/>
          </a:xfrm>
          <a:prstGeom prst="roundRect">
            <a:avLst>
              <a:gd name="adj" fmla="val 4615"/>
            </a:avLst>
          </a:prstGeom>
          <a:solidFill>
            <a:schemeClr val="bg2"/>
          </a:solidFill>
          <a:ln/>
        </p:spPr>
      </p:sp>
      <p:sp>
        <p:nvSpPr>
          <p:cNvPr id="16" name="icon circle"/>
          <p:cNvSpPr/>
          <p:nvPr/>
        </p:nvSpPr>
        <p:spPr>
          <a:xfrm>
            <a:off x="7086600" y="1783080"/>
            <a:ext cx="731520" cy="731520"/>
          </a:xfrm>
          <a:prstGeom prst="ellipse">
            <a:avLst/>
          </a:prstGeom>
          <a:solidFill>
            <a:srgbClr val="0A8FC2"/>
          </a:solidFill>
          <a:ln/>
        </p:spPr>
      </p:sp>
      <p:pic>
        <p:nvPicPr>
          <p:cNvPr id="17" name="icon FaDesktop" descr="preencoded.png">    </p:cNvPr>
          <p:cNvPicPr>
            <a:picLocks noChangeAspect="1"/>
          </p:cNvPicPr>
          <p:nvPr/>
        </p:nvPicPr>
        <p:blipFill>
          <a:blip r:embed="rId3"/>
          <a:stretch>
            <a:fillRect/>
          </a:stretch>
        </p:blipFill>
        <p:spPr>
          <a:xfrm>
            <a:off x="7269480" y="1965960"/>
            <a:ext cx="365760" cy="365760"/>
          </a:xfrm>
          <a:prstGeom prst="rect">
            <a:avLst/>
          </a:prstGeom>
        </p:spPr>
      </p:pic>
      <p:sp>
        <p:nvSpPr>
          <p:cNvPr id="18" name="Text 13"/>
          <p:cNvSpPr txBox="1"/>
          <p:nvPr/>
        </p:nvSpPr>
        <p:spPr>
          <a:xfrm>
            <a:off x="6217920" y="2697480"/>
            <a:ext cx="2468880" cy="411480"/>
          </a:xfrm>
          <a:prstGeom prst="rect">
            <a:avLst/>
          </a:prstGeom>
          <a:noFill/>
          <a:ln/>
        </p:spPr>
        <p:txBody>
          <a:bodyPr wrap="square" lIns="0" tIns="0" rIns="0" bIns="0" rtlCol="0" anchor="t"/>
          <a:lstStyle/>
          <a:p>
            <a:pPr algn="ctr" indent="0" marL="0">
              <a:buNone/>
            </a:pPr>
            <a:r>
              <a:rPr lang="en-US" sz="2000" b="1" dirty="0">
                <a:solidFill>
                  <a:schemeClr val="tx1"/>
                </a:solidFill>
              </a:rPr>
              <a:t>Screen</a:t>
            </a:r>
            <a:endParaRPr lang="en-US" sz="2000" dirty="0"/>
          </a:p>
        </p:txBody>
      </p:sp>
      <p:sp>
        <p:nvSpPr>
          <p:cNvPr id="19" name="Text 14"/>
          <p:cNvSpPr txBox="1"/>
          <p:nvPr/>
        </p:nvSpPr>
        <p:spPr>
          <a:xfrm>
            <a:off x="6400800" y="3154680"/>
            <a:ext cx="2103120" cy="548640"/>
          </a:xfrm>
          <a:prstGeom prst="rect">
            <a:avLst/>
          </a:prstGeom>
          <a:noFill/>
          <a:ln/>
        </p:spPr>
        <p:txBody>
          <a:bodyPr wrap="square" lIns="0" tIns="0" rIns="0" bIns="0" rtlCol="0" anchor="t"/>
          <a:lstStyle/>
          <a:p>
            <a:pPr algn="ctr" indent="0" marL="0">
              <a:buNone/>
            </a:pPr>
            <a:r>
              <a:rPr lang="en-US" sz="1400" dirty="0">
                <a:solidFill>
                  <a:srgbClr val="5A6577"/>
                </a:solidFill>
              </a:rPr>
              <a:t>drawing results</a:t>
            </a:r>
            <a:endParaRPr lang="en-US" sz="1400" dirty="0"/>
          </a:p>
        </p:txBody>
      </p:sp>
      <p:sp>
        <p:nvSpPr>
          <p:cNvPr id="20" name="Text 15"/>
          <p:cNvSpPr txBox="1"/>
          <p:nvPr/>
        </p:nvSpPr>
        <p:spPr>
          <a:xfrm>
            <a:off x="8686800" y="2377440"/>
            <a:ext cx="365760" cy="548640"/>
          </a:xfrm>
          <a:prstGeom prst="rect">
            <a:avLst/>
          </a:prstGeom>
          <a:noFill/>
          <a:ln/>
        </p:spPr>
        <p:txBody>
          <a:bodyPr wrap="square" lIns="0" tIns="0" rIns="0" bIns="0" rtlCol="0" anchor="t"/>
          <a:lstStyle/>
          <a:p>
            <a:pPr algn="ctr" indent="0" marL="0">
              <a:buNone/>
            </a:pPr>
            <a:r>
              <a:rPr lang="en-US" sz="2800" b="1" dirty="0">
                <a:solidFill>
                  <a:srgbClr val="5A6577"/>
                </a:solidFill>
              </a:rPr>
              <a:t>+</a:t>
            </a:r>
            <a:endParaRPr lang="en-US" sz="2800" dirty="0"/>
          </a:p>
        </p:txBody>
      </p:sp>
      <p:sp>
        <p:nvSpPr>
          <p:cNvPr id="21" name="job card 4"/>
          <p:cNvSpPr/>
          <p:nvPr/>
        </p:nvSpPr>
        <p:spPr>
          <a:xfrm>
            <a:off x="9052560" y="1508760"/>
            <a:ext cx="2468880" cy="2377440"/>
          </a:xfrm>
          <a:prstGeom prst="roundRect">
            <a:avLst>
              <a:gd name="adj" fmla="val 4615"/>
            </a:avLst>
          </a:prstGeom>
          <a:solidFill>
            <a:schemeClr val="bg2"/>
          </a:solidFill>
          <a:ln/>
        </p:spPr>
      </p:sp>
      <p:sp>
        <p:nvSpPr>
          <p:cNvPr id="22" name="icon circle"/>
          <p:cNvSpPr/>
          <p:nvPr/>
        </p:nvSpPr>
        <p:spPr>
          <a:xfrm>
            <a:off x="9921240" y="1783080"/>
            <a:ext cx="731520" cy="731520"/>
          </a:xfrm>
          <a:prstGeom prst="ellipse">
            <a:avLst/>
          </a:prstGeom>
          <a:solidFill>
            <a:srgbClr val="0A8FC2"/>
          </a:solidFill>
          <a:ln/>
        </p:spPr>
      </p:sp>
      <p:pic>
        <p:nvPicPr>
          <p:cNvPr id="23" name="icon FaVolumeUp" descr="preencoded.png">    </p:cNvPr>
          <p:cNvPicPr>
            <a:picLocks noChangeAspect="1"/>
          </p:cNvPicPr>
          <p:nvPr/>
        </p:nvPicPr>
        <p:blipFill>
          <a:blip r:embed="rId4"/>
          <a:stretch>
            <a:fillRect/>
          </a:stretch>
        </p:blipFill>
        <p:spPr>
          <a:xfrm>
            <a:off x="10104120" y="1965960"/>
            <a:ext cx="365760" cy="365760"/>
          </a:xfrm>
          <a:prstGeom prst="rect">
            <a:avLst/>
          </a:prstGeom>
        </p:spPr>
      </p:pic>
      <p:sp>
        <p:nvSpPr>
          <p:cNvPr id="24" name="Text 18"/>
          <p:cNvSpPr txBox="1"/>
          <p:nvPr/>
        </p:nvSpPr>
        <p:spPr>
          <a:xfrm>
            <a:off x="9052560" y="2697480"/>
            <a:ext cx="2468880" cy="411480"/>
          </a:xfrm>
          <a:prstGeom prst="rect">
            <a:avLst/>
          </a:prstGeom>
          <a:noFill/>
          <a:ln/>
        </p:spPr>
        <p:txBody>
          <a:bodyPr wrap="square" lIns="0" tIns="0" rIns="0" bIns="0" rtlCol="0" anchor="t"/>
          <a:lstStyle/>
          <a:p>
            <a:pPr algn="ctr" indent="0" marL="0">
              <a:buNone/>
            </a:pPr>
            <a:r>
              <a:rPr lang="en-US" sz="2000" b="1" dirty="0">
                <a:solidFill>
                  <a:schemeClr val="tx1"/>
                </a:solidFill>
              </a:rPr>
              <a:t>Voice</a:t>
            </a:r>
            <a:endParaRPr lang="en-US" sz="2000" dirty="0"/>
          </a:p>
        </p:txBody>
      </p:sp>
      <p:sp>
        <p:nvSpPr>
          <p:cNvPr id="25" name="Text 19"/>
          <p:cNvSpPr txBox="1"/>
          <p:nvPr/>
        </p:nvSpPr>
        <p:spPr>
          <a:xfrm>
            <a:off x="9235440" y="3154680"/>
            <a:ext cx="2103120" cy="548640"/>
          </a:xfrm>
          <a:prstGeom prst="rect">
            <a:avLst/>
          </a:prstGeom>
          <a:noFill/>
          <a:ln/>
        </p:spPr>
        <p:txBody>
          <a:bodyPr wrap="square" lIns="0" tIns="0" rIns="0" bIns="0" rtlCol="0" anchor="t"/>
          <a:lstStyle/>
          <a:p>
            <a:pPr algn="ctr" indent="0" marL="0">
              <a:buNone/>
            </a:pPr>
            <a:r>
              <a:rPr lang="en-US" sz="1400" dirty="0">
                <a:solidFill>
                  <a:srgbClr val="5A6577"/>
                </a:solidFill>
              </a:rPr>
              <a:t>speaking results</a:t>
            </a:r>
            <a:endParaRPr lang="en-US" sz="1400" dirty="0"/>
          </a:p>
        </p:txBody>
      </p:sp>
      <p:sp>
        <p:nvSpPr>
          <p:cNvPr id="26" name="Text 20"/>
          <p:cNvSpPr txBox="1"/>
          <p:nvPr/>
        </p:nvSpPr>
        <p:spPr>
          <a:xfrm>
            <a:off x="548640" y="4343400"/>
            <a:ext cx="1106424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They don't all need full power all the time.</a:t>
            </a:r>
            <a:endParaRPr lang="en-US" sz="2600" dirty="0"/>
          </a:p>
        </p:txBody>
      </p:sp>
      <p:sp>
        <p:nvSpPr>
          <p:cNvPr id="27" name="Text 21"/>
          <p:cNvSpPr txBox="1"/>
          <p:nvPr/>
        </p:nvSpPr>
        <p:spPr>
          <a:xfrm>
            <a:off x="548640" y="4937760"/>
            <a:ext cx="10058400" cy="822960"/>
          </a:xfrm>
          <a:prstGeom prst="rect">
            <a:avLst/>
          </a:prstGeom>
          <a:noFill/>
          <a:ln/>
        </p:spPr>
        <p:txBody>
          <a:bodyPr wrap="square" lIns="0" tIns="0" rIns="0" bIns="0" rtlCol="0" anchor="t"/>
          <a:lstStyle/>
          <a:p>
            <a:pPr indent="0" marL="0">
              <a:buNone/>
            </a:pPr>
            <a:r>
              <a:rPr lang="en-US" sz="1800" dirty="0">
                <a:solidFill>
                  <a:schemeClr val="tx1"/>
                </a:solidFill>
              </a:rPr>
              <a:t>Control each job separately and spend power only where the user notices, and you get the same result for much less heat and battery.</a:t>
            </a:r>
            <a:endParaRPr lang="en-US" sz="1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Virtual chiplets: one job each, one standard interface</a:t>
            </a:r>
            <a:endParaRPr lang="en-US" sz="3200" dirty="0"/>
          </a:p>
        </p:txBody>
      </p:sp>
      <p:sp>
        <p:nvSpPr>
          <p:cNvPr id="3" name="Text 1"/>
          <p:cNvSpPr txBox="1"/>
          <p:nvPr/>
        </p:nvSpPr>
        <p:spPr>
          <a:xfrm>
            <a:off x="548640" y="1188720"/>
            <a:ext cx="11064240" cy="411480"/>
          </a:xfrm>
          <a:prstGeom prst="rect">
            <a:avLst/>
          </a:prstGeom>
          <a:noFill/>
          <a:ln/>
        </p:spPr>
        <p:txBody>
          <a:bodyPr wrap="square" lIns="0" tIns="0" rIns="0" bIns="0" rtlCol="0" anchor="t"/>
          <a:lstStyle/>
          <a:p>
            <a:pPr indent="0" marL="0">
              <a:buNone/>
            </a:pPr>
            <a:r>
              <a:rPr lang="en-US" sz="1600" dirty="0">
                <a:solidFill>
                  <a:srgbClr val="5A6577"/>
                </a:solidFill>
              </a:rPr>
              <a:t>Hardware chiplets split a processor into parts that can be tuned on their own. LOOM does the same in software.</a:t>
            </a:r>
            <a:endParaRPr lang="en-US" sz="1600" dirty="0"/>
          </a:p>
        </p:txBody>
      </p:sp>
      <p:sp>
        <p:nvSpPr>
          <p:cNvPr id="4" name="chiplet Capture"/>
          <p:cNvSpPr/>
          <p:nvPr/>
        </p:nvSpPr>
        <p:spPr>
          <a:xfrm>
            <a:off x="548640" y="1828800"/>
            <a:ext cx="2029968" cy="2788920"/>
          </a:xfrm>
          <a:prstGeom prst="roundRect">
            <a:avLst>
              <a:gd name="adj" fmla="val 5405"/>
            </a:avLst>
          </a:prstGeom>
          <a:solidFill>
            <a:schemeClr val="bg1"/>
          </a:solidFill>
          <a:ln w="15875">
            <a:solidFill>
              <a:srgbClr val="9FD3EA"/>
            </a:solidFill>
            <a:prstDash val="solid"/>
          </a:ln>
        </p:spPr>
      </p:sp>
      <p:sp>
        <p:nvSpPr>
          <p:cNvPr id="5" name="icon circle"/>
          <p:cNvSpPr/>
          <p:nvPr/>
        </p:nvSpPr>
        <p:spPr>
          <a:xfrm>
            <a:off x="777240" y="2057400"/>
            <a:ext cx="548640" cy="548640"/>
          </a:xfrm>
          <a:prstGeom prst="ellipse">
            <a:avLst/>
          </a:prstGeom>
          <a:solidFill>
            <a:srgbClr val="0A8FC2"/>
          </a:solidFill>
          <a:ln/>
        </p:spPr>
      </p:sp>
      <p:pic>
        <p:nvPicPr>
          <p:cNvPr id="6" name="icon FaCamera" descr="preencoded.png">    </p:cNvPr>
          <p:cNvPicPr>
            <a:picLocks noChangeAspect="1"/>
          </p:cNvPicPr>
          <p:nvPr/>
        </p:nvPicPr>
        <p:blipFill>
          <a:blip r:embed="rId1"/>
          <a:stretch>
            <a:fillRect/>
          </a:stretch>
        </p:blipFill>
        <p:spPr>
          <a:xfrm>
            <a:off x="914400" y="2194560"/>
            <a:ext cx="274320" cy="274320"/>
          </a:xfrm>
          <a:prstGeom prst="rect">
            <a:avLst/>
          </a:prstGeom>
        </p:spPr>
      </p:pic>
      <p:sp>
        <p:nvSpPr>
          <p:cNvPr id="7" name="Text 4"/>
          <p:cNvSpPr txBox="1"/>
          <p:nvPr/>
        </p:nvSpPr>
        <p:spPr>
          <a:xfrm>
            <a:off x="777240" y="2743200"/>
            <a:ext cx="1664208" cy="365760"/>
          </a:xfrm>
          <a:prstGeom prst="rect">
            <a:avLst/>
          </a:prstGeom>
          <a:noFill/>
          <a:ln/>
        </p:spPr>
        <p:txBody>
          <a:bodyPr wrap="square" lIns="0" tIns="0" rIns="0" bIns="0" rtlCol="0" anchor="t"/>
          <a:lstStyle/>
          <a:p>
            <a:pPr indent="0" marL="0">
              <a:buNone/>
            </a:pPr>
            <a:r>
              <a:rPr lang="en-US" sz="1800" b="1" dirty="0">
                <a:solidFill>
                  <a:schemeClr val="tx1"/>
                </a:solidFill>
              </a:rPr>
              <a:t>Capture</a:t>
            </a:r>
            <a:endParaRPr lang="en-US" sz="1800" dirty="0"/>
          </a:p>
        </p:txBody>
      </p:sp>
      <p:sp>
        <p:nvSpPr>
          <p:cNvPr id="8" name="Text 5"/>
          <p:cNvSpPr txBox="1"/>
          <p:nvPr/>
        </p:nvSpPr>
        <p:spPr>
          <a:xfrm>
            <a:off x="777240" y="3108960"/>
            <a:ext cx="1664208" cy="320040"/>
          </a:xfrm>
          <a:prstGeom prst="rect">
            <a:avLst/>
          </a:prstGeom>
          <a:noFill/>
          <a:ln/>
        </p:spPr>
        <p:txBody>
          <a:bodyPr wrap="square" lIns="0" tIns="0" rIns="0" bIns="0" rtlCol="0" anchor="t"/>
          <a:lstStyle/>
          <a:p>
            <a:pPr indent="0" marL="0">
              <a:buNone/>
            </a:pPr>
            <a:r>
              <a:rPr lang="en-US" sz="1300" dirty="0">
                <a:solidFill>
                  <a:srgbClr val="5A6577"/>
                </a:solidFill>
              </a:rPr>
              <a:t>camera sensor</a:t>
            </a:r>
            <a:endParaRPr lang="en-US" sz="1300" dirty="0"/>
          </a:p>
        </p:txBody>
      </p:sp>
      <p:sp>
        <p:nvSpPr>
          <p:cNvPr id="9" name="profile"/>
          <p:cNvSpPr/>
          <p:nvPr/>
        </p:nvSpPr>
        <p:spPr>
          <a:xfrm>
            <a:off x="777240" y="3520440"/>
            <a:ext cx="1572768" cy="274320"/>
          </a:xfrm>
          <a:prstGeom prst="roundRect">
            <a:avLst>
              <a:gd name="adj" fmla="val 26667"/>
            </a:avLst>
          </a:prstGeom>
          <a:solidFill>
            <a:srgbClr val="DDF1FA"/>
          </a:solidFill>
          <a:ln/>
        </p:spPr>
      </p:sp>
      <p:sp>
        <p:nvSpPr>
          <p:cNvPr id="10" name="Text 7"/>
          <p:cNvSpPr txBox="1"/>
          <p:nvPr/>
        </p:nvSpPr>
        <p:spPr>
          <a:xfrm>
            <a:off x="868680" y="3520440"/>
            <a:ext cx="1389888" cy="274320"/>
          </a:xfrm>
          <a:prstGeom prst="rect">
            <a:avLst/>
          </a:prstGeom>
          <a:noFill/>
          <a:ln/>
        </p:spPr>
        <p:txBody>
          <a:bodyPr wrap="square" lIns="0" tIns="0" rIns="0" bIns="0" rtlCol="0" anchor="ctr"/>
          <a:lstStyle/>
          <a:p>
            <a:pPr indent="0" marL="0">
              <a:buNone/>
            </a:pPr>
            <a:r>
              <a:rPr lang="en-US" sz="1200" dirty="0">
                <a:solidFill>
                  <a:schemeClr val="tx1"/>
                </a:solidFill>
              </a:rPr>
              <a:t>30 fps</a:t>
            </a:r>
            <a:endParaRPr lang="en-US" sz="1200" dirty="0"/>
          </a:p>
        </p:txBody>
      </p:sp>
      <p:sp>
        <p:nvSpPr>
          <p:cNvPr id="11" name="profile"/>
          <p:cNvSpPr/>
          <p:nvPr/>
        </p:nvSpPr>
        <p:spPr>
          <a:xfrm>
            <a:off x="777240" y="3858768"/>
            <a:ext cx="1572768" cy="274320"/>
          </a:xfrm>
          <a:prstGeom prst="roundRect">
            <a:avLst>
              <a:gd name="adj" fmla="val 26667"/>
            </a:avLst>
          </a:prstGeom>
          <a:solidFill>
            <a:schemeClr val="bg2"/>
          </a:solidFill>
          <a:ln/>
        </p:spPr>
      </p:sp>
      <p:sp>
        <p:nvSpPr>
          <p:cNvPr id="12" name="Text 9"/>
          <p:cNvSpPr txBox="1"/>
          <p:nvPr/>
        </p:nvSpPr>
        <p:spPr>
          <a:xfrm>
            <a:off x="868680" y="3858768"/>
            <a:ext cx="1389888" cy="274320"/>
          </a:xfrm>
          <a:prstGeom prst="rect">
            <a:avLst/>
          </a:prstGeom>
          <a:noFill/>
          <a:ln/>
        </p:spPr>
        <p:txBody>
          <a:bodyPr wrap="square" lIns="0" tIns="0" rIns="0" bIns="0" rtlCol="0" anchor="ctr"/>
          <a:lstStyle/>
          <a:p>
            <a:pPr indent="0" marL="0">
              <a:buNone/>
            </a:pPr>
            <a:r>
              <a:rPr lang="en-US" sz="1200" dirty="0">
                <a:solidFill>
                  <a:schemeClr val="tx1"/>
                </a:solidFill>
              </a:rPr>
              <a:t>15 fps</a:t>
            </a:r>
            <a:endParaRPr lang="en-US" sz="1200" dirty="0"/>
          </a:p>
        </p:txBody>
      </p:sp>
      <p:sp>
        <p:nvSpPr>
          <p:cNvPr id="13" name="profile"/>
          <p:cNvSpPr/>
          <p:nvPr/>
        </p:nvSpPr>
        <p:spPr>
          <a:xfrm>
            <a:off x="777240" y="4197096"/>
            <a:ext cx="1572768" cy="274320"/>
          </a:xfrm>
          <a:prstGeom prst="roundRect">
            <a:avLst>
              <a:gd name="adj" fmla="val 26667"/>
            </a:avLst>
          </a:prstGeom>
          <a:solidFill>
            <a:schemeClr val="bg2"/>
          </a:solidFill>
          <a:ln/>
        </p:spPr>
      </p:sp>
      <p:sp>
        <p:nvSpPr>
          <p:cNvPr id="14" name="Text 11"/>
          <p:cNvSpPr txBox="1"/>
          <p:nvPr/>
        </p:nvSpPr>
        <p:spPr>
          <a:xfrm>
            <a:off x="868680" y="4197096"/>
            <a:ext cx="1389888" cy="274320"/>
          </a:xfrm>
          <a:prstGeom prst="rect">
            <a:avLst/>
          </a:prstGeom>
          <a:noFill/>
          <a:ln/>
        </p:spPr>
        <p:txBody>
          <a:bodyPr wrap="square" lIns="0" tIns="0" rIns="0" bIns="0" rtlCol="0" anchor="ctr"/>
          <a:lstStyle/>
          <a:p>
            <a:pPr indent="0" marL="0">
              <a:buNone/>
            </a:pPr>
            <a:r>
              <a:rPr lang="en-US" sz="1200" dirty="0">
                <a:solidFill>
                  <a:schemeClr val="tx1"/>
                </a:solidFill>
              </a:rPr>
              <a:t>10 fps</a:t>
            </a:r>
            <a:endParaRPr lang="en-US" sz="1200" dirty="0"/>
          </a:p>
        </p:txBody>
      </p:sp>
      <p:sp>
        <p:nvSpPr>
          <p:cNvPr id="15" name="flow arrow"/>
          <p:cNvSpPr/>
          <p:nvPr/>
        </p:nvSpPr>
        <p:spPr>
          <a:xfrm rot="5400000">
            <a:off x="2642616" y="3108960"/>
            <a:ext cx="100584" cy="182880"/>
          </a:xfrm>
          <a:prstGeom prst="rtTriangle">
            <a:avLst/>
          </a:prstGeom>
          <a:solidFill>
            <a:srgbClr val="9FD3EA"/>
          </a:solidFill>
          <a:ln/>
        </p:spPr>
      </p:sp>
      <p:sp>
        <p:nvSpPr>
          <p:cNvPr id="16" name="chiplet Preprocess"/>
          <p:cNvSpPr/>
          <p:nvPr/>
        </p:nvSpPr>
        <p:spPr>
          <a:xfrm>
            <a:off x="2807208" y="1828800"/>
            <a:ext cx="2029968" cy="2788920"/>
          </a:xfrm>
          <a:prstGeom prst="roundRect">
            <a:avLst>
              <a:gd name="adj" fmla="val 5405"/>
            </a:avLst>
          </a:prstGeom>
          <a:solidFill>
            <a:schemeClr val="bg1"/>
          </a:solidFill>
          <a:ln w="15875">
            <a:solidFill>
              <a:srgbClr val="9FD3EA"/>
            </a:solidFill>
            <a:prstDash val="solid"/>
          </a:ln>
        </p:spPr>
      </p:sp>
      <p:sp>
        <p:nvSpPr>
          <p:cNvPr id="17" name="icon circle"/>
          <p:cNvSpPr/>
          <p:nvPr/>
        </p:nvSpPr>
        <p:spPr>
          <a:xfrm>
            <a:off x="3035808" y="2057400"/>
            <a:ext cx="548640" cy="548640"/>
          </a:xfrm>
          <a:prstGeom prst="ellipse">
            <a:avLst/>
          </a:prstGeom>
          <a:solidFill>
            <a:srgbClr val="0A8FC2"/>
          </a:solidFill>
          <a:ln/>
        </p:spPr>
      </p:sp>
      <p:pic>
        <p:nvPicPr>
          <p:cNvPr id="18" name="icon FaSyncAlt" descr="preencoded.png">    </p:cNvPr>
          <p:cNvPicPr>
            <a:picLocks noChangeAspect="1"/>
          </p:cNvPicPr>
          <p:nvPr/>
        </p:nvPicPr>
        <p:blipFill>
          <a:blip r:embed="rId2"/>
          <a:stretch>
            <a:fillRect/>
          </a:stretch>
        </p:blipFill>
        <p:spPr>
          <a:xfrm>
            <a:off x="3172968" y="2194560"/>
            <a:ext cx="274320" cy="274320"/>
          </a:xfrm>
          <a:prstGeom prst="rect">
            <a:avLst/>
          </a:prstGeom>
        </p:spPr>
      </p:pic>
      <p:sp>
        <p:nvSpPr>
          <p:cNvPr id="19" name="Text 15"/>
          <p:cNvSpPr txBox="1"/>
          <p:nvPr/>
        </p:nvSpPr>
        <p:spPr>
          <a:xfrm>
            <a:off x="3035808" y="2743200"/>
            <a:ext cx="1664208" cy="365760"/>
          </a:xfrm>
          <a:prstGeom prst="rect">
            <a:avLst/>
          </a:prstGeom>
          <a:noFill/>
          <a:ln/>
        </p:spPr>
        <p:txBody>
          <a:bodyPr wrap="square" lIns="0" tIns="0" rIns="0" bIns="0" rtlCol="0" anchor="t"/>
          <a:lstStyle/>
          <a:p>
            <a:pPr indent="0" marL="0">
              <a:buNone/>
            </a:pPr>
            <a:r>
              <a:rPr lang="en-US" sz="1800" b="1" dirty="0">
                <a:solidFill>
                  <a:schemeClr val="tx1"/>
                </a:solidFill>
              </a:rPr>
              <a:t>Preprocess</a:t>
            </a:r>
            <a:endParaRPr lang="en-US" sz="1800" dirty="0"/>
          </a:p>
        </p:txBody>
      </p:sp>
      <p:sp>
        <p:nvSpPr>
          <p:cNvPr id="20" name="Text 16"/>
          <p:cNvSpPr txBox="1"/>
          <p:nvPr/>
        </p:nvSpPr>
        <p:spPr>
          <a:xfrm>
            <a:off x="3035808" y="3108960"/>
            <a:ext cx="1664208" cy="320040"/>
          </a:xfrm>
          <a:prstGeom prst="rect">
            <a:avLst/>
          </a:prstGeom>
          <a:noFill/>
          <a:ln/>
        </p:spPr>
        <p:txBody>
          <a:bodyPr wrap="square" lIns="0" tIns="0" rIns="0" bIns="0" rtlCol="0" anchor="t"/>
          <a:lstStyle/>
          <a:p>
            <a:pPr indent="0" marL="0">
              <a:buNone/>
            </a:pPr>
            <a:r>
              <a:rPr lang="en-US" sz="1300" dirty="0">
                <a:solidFill>
                  <a:srgbClr val="5A6577"/>
                </a:solidFill>
              </a:rPr>
              <a:t>rotate upright</a:t>
            </a:r>
            <a:endParaRPr lang="en-US" sz="1300" dirty="0"/>
          </a:p>
        </p:txBody>
      </p:sp>
      <p:sp>
        <p:nvSpPr>
          <p:cNvPr id="21" name="profile"/>
          <p:cNvSpPr/>
          <p:nvPr/>
        </p:nvSpPr>
        <p:spPr>
          <a:xfrm>
            <a:off x="3035808" y="3520440"/>
            <a:ext cx="1572768" cy="274320"/>
          </a:xfrm>
          <a:prstGeom prst="roundRect">
            <a:avLst>
              <a:gd name="adj" fmla="val 26667"/>
            </a:avLst>
          </a:prstGeom>
          <a:solidFill>
            <a:srgbClr val="DDF1FA"/>
          </a:solidFill>
          <a:ln/>
        </p:spPr>
      </p:sp>
      <p:sp>
        <p:nvSpPr>
          <p:cNvPr id="22" name="Text 18"/>
          <p:cNvSpPr txBox="1"/>
          <p:nvPr/>
        </p:nvSpPr>
        <p:spPr>
          <a:xfrm>
            <a:off x="3127248" y="3520440"/>
            <a:ext cx="1389888" cy="274320"/>
          </a:xfrm>
          <a:prstGeom prst="rect">
            <a:avLst/>
          </a:prstGeom>
          <a:noFill/>
          <a:ln/>
        </p:spPr>
        <p:txBody>
          <a:bodyPr wrap="square" lIns="0" tIns="0" rIns="0" bIns="0" rtlCol="0" anchor="ctr"/>
          <a:lstStyle/>
          <a:p>
            <a:pPr indent="0" marL="0">
              <a:buNone/>
            </a:pPr>
            <a:r>
              <a:rPr lang="en-US" sz="1200" dirty="0">
                <a:solidFill>
                  <a:schemeClr val="tx1"/>
                </a:solidFill>
              </a:rPr>
              <a:t>always on</a:t>
            </a:r>
            <a:endParaRPr lang="en-US" sz="1200" dirty="0"/>
          </a:p>
        </p:txBody>
      </p:sp>
      <p:sp>
        <p:nvSpPr>
          <p:cNvPr id="23" name="flow arrow"/>
          <p:cNvSpPr/>
          <p:nvPr/>
        </p:nvSpPr>
        <p:spPr>
          <a:xfrm rot="5400000">
            <a:off x="4901184" y="3108960"/>
            <a:ext cx="100584" cy="182880"/>
          </a:xfrm>
          <a:prstGeom prst="rtTriangle">
            <a:avLst/>
          </a:prstGeom>
          <a:solidFill>
            <a:srgbClr val="9FD3EA"/>
          </a:solidFill>
          <a:ln/>
        </p:spPr>
      </p:sp>
      <p:sp>
        <p:nvSpPr>
          <p:cNvPr id="24" name="chiplet Inference"/>
          <p:cNvSpPr/>
          <p:nvPr/>
        </p:nvSpPr>
        <p:spPr>
          <a:xfrm>
            <a:off x="5065776" y="1828800"/>
            <a:ext cx="2029968" cy="2788920"/>
          </a:xfrm>
          <a:prstGeom prst="roundRect">
            <a:avLst>
              <a:gd name="adj" fmla="val 5405"/>
            </a:avLst>
          </a:prstGeom>
          <a:solidFill>
            <a:schemeClr val="bg1"/>
          </a:solidFill>
          <a:ln w="15875">
            <a:solidFill>
              <a:srgbClr val="9FD3EA"/>
            </a:solidFill>
            <a:prstDash val="solid"/>
          </a:ln>
        </p:spPr>
      </p:sp>
      <p:sp>
        <p:nvSpPr>
          <p:cNvPr id="25" name="icon circle"/>
          <p:cNvSpPr/>
          <p:nvPr/>
        </p:nvSpPr>
        <p:spPr>
          <a:xfrm>
            <a:off x="5294376" y="2057400"/>
            <a:ext cx="548640" cy="548640"/>
          </a:xfrm>
          <a:prstGeom prst="ellipse">
            <a:avLst/>
          </a:prstGeom>
          <a:solidFill>
            <a:srgbClr val="0A8FC2"/>
          </a:solidFill>
          <a:ln/>
        </p:spPr>
      </p:sp>
      <p:pic>
        <p:nvPicPr>
          <p:cNvPr id="26" name="icon FaMicrochip" descr="preencoded.png">    </p:cNvPr>
          <p:cNvPicPr>
            <a:picLocks noChangeAspect="1"/>
          </p:cNvPicPr>
          <p:nvPr/>
        </p:nvPicPr>
        <p:blipFill>
          <a:blip r:embed="rId3"/>
          <a:stretch>
            <a:fillRect/>
          </a:stretch>
        </p:blipFill>
        <p:spPr>
          <a:xfrm>
            <a:off x="5431536" y="2194560"/>
            <a:ext cx="274320" cy="274320"/>
          </a:xfrm>
          <a:prstGeom prst="rect">
            <a:avLst/>
          </a:prstGeom>
        </p:spPr>
      </p:pic>
      <p:sp>
        <p:nvSpPr>
          <p:cNvPr id="27" name="Text 22"/>
          <p:cNvSpPr txBox="1"/>
          <p:nvPr/>
        </p:nvSpPr>
        <p:spPr>
          <a:xfrm>
            <a:off x="5294376" y="2743200"/>
            <a:ext cx="1664208" cy="365760"/>
          </a:xfrm>
          <a:prstGeom prst="rect">
            <a:avLst/>
          </a:prstGeom>
          <a:noFill/>
          <a:ln/>
        </p:spPr>
        <p:txBody>
          <a:bodyPr wrap="square" lIns="0" tIns="0" rIns="0" bIns="0" rtlCol="0" anchor="t"/>
          <a:lstStyle/>
          <a:p>
            <a:pPr indent="0" marL="0">
              <a:buNone/>
            </a:pPr>
            <a:r>
              <a:rPr lang="en-US" sz="1800" b="1" dirty="0">
                <a:solidFill>
                  <a:schemeClr val="tx1"/>
                </a:solidFill>
              </a:rPr>
              <a:t>Inference</a:t>
            </a:r>
            <a:endParaRPr lang="en-US" sz="1800" dirty="0"/>
          </a:p>
        </p:txBody>
      </p:sp>
      <p:sp>
        <p:nvSpPr>
          <p:cNvPr id="28" name="Text 23"/>
          <p:cNvSpPr txBox="1"/>
          <p:nvPr/>
        </p:nvSpPr>
        <p:spPr>
          <a:xfrm>
            <a:off x="5294376" y="3108960"/>
            <a:ext cx="1664208" cy="320040"/>
          </a:xfrm>
          <a:prstGeom prst="rect">
            <a:avLst/>
          </a:prstGeom>
          <a:noFill/>
          <a:ln/>
        </p:spPr>
        <p:txBody>
          <a:bodyPr wrap="square" lIns="0" tIns="0" rIns="0" bIns="0" rtlCol="0" anchor="t"/>
          <a:lstStyle/>
          <a:p>
            <a:pPr indent="0" marL="0">
              <a:buNone/>
            </a:pPr>
            <a:r>
              <a:rPr lang="en-US" sz="1300" dirty="0">
                <a:solidFill>
                  <a:srgbClr val="5A6577"/>
                </a:solidFill>
              </a:rPr>
              <a:t>AI model on GPU</a:t>
            </a:r>
            <a:endParaRPr lang="en-US" sz="1300" dirty="0"/>
          </a:p>
        </p:txBody>
      </p:sp>
      <p:sp>
        <p:nvSpPr>
          <p:cNvPr id="29" name="profile"/>
          <p:cNvSpPr/>
          <p:nvPr/>
        </p:nvSpPr>
        <p:spPr>
          <a:xfrm>
            <a:off x="5294376" y="3520440"/>
            <a:ext cx="1572768" cy="274320"/>
          </a:xfrm>
          <a:prstGeom prst="roundRect">
            <a:avLst>
              <a:gd name="adj" fmla="val 26667"/>
            </a:avLst>
          </a:prstGeom>
          <a:solidFill>
            <a:srgbClr val="DDF1FA"/>
          </a:solidFill>
          <a:ln/>
        </p:spPr>
      </p:sp>
      <p:sp>
        <p:nvSpPr>
          <p:cNvPr id="30" name="Text 25"/>
          <p:cNvSpPr txBox="1"/>
          <p:nvPr/>
        </p:nvSpPr>
        <p:spPr>
          <a:xfrm>
            <a:off x="5385816" y="3520440"/>
            <a:ext cx="1389888" cy="274320"/>
          </a:xfrm>
          <a:prstGeom prst="rect">
            <a:avLst/>
          </a:prstGeom>
          <a:noFill/>
          <a:ln/>
        </p:spPr>
        <p:txBody>
          <a:bodyPr wrap="square" lIns="0" tIns="0" rIns="0" bIns="0" rtlCol="0" anchor="ctr"/>
          <a:lstStyle/>
          <a:p>
            <a:pPr indent="0" marL="0">
              <a:buNone/>
            </a:pPr>
            <a:r>
              <a:rPr lang="en-US" sz="1200" dirty="0">
                <a:solidFill>
                  <a:schemeClr val="tx1"/>
                </a:solidFill>
              </a:rPr>
              <a:t>Lite2</a:t>
            </a:r>
            <a:endParaRPr lang="en-US" sz="1200" dirty="0"/>
          </a:p>
        </p:txBody>
      </p:sp>
      <p:sp>
        <p:nvSpPr>
          <p:cNvPr id="31" name="profile"/>
          <p:cNvSpPr/>
          <p:nvPr/>
        </p:nvSpPr>
        <p:spPr>
          <a:xfrm>
            <a:off x="5294376" y="3858768"/>
            <a:ext cx="1572768" cy="274320"/>
          </a:xfrm>
          <a:prstGeom prst="roundRect">
            <a:avLst>
              <a:gd name="adj" fmla="val 26667"/>
            </a:avLst>
          </a:prstGeom>
          <a:solidFill>
            <a:schemeClr val="bg2"/>
          </a:solidFill>
          <a:ln/>
        </p:spPr>
      </p:sp>
      <p:sp>
        <p:nvSpPr>
          <p:cNvPr id="32" name="Text 27"/>
          <p:cNvSpPr txBox="1"/>
          <p:nvPr/>
        </p:nvSpPr>
        <p:spPr>
          <a:xfrm>
            <a:off x="5385816" y="3858768"/>
            <a:ext cx="1389888" cy="274320"/>
          </a:xfrm>
          <a:prstGeom prst="rect">
            <a:avLst/>
          </a:prstGeom>
          <a:noFill/>
          <a:ln/>
        </p:spPr>
        <p:txBody>
          <a:bodyPr wrap="square" lIns="0" tIns="0" rIns="0" bIns="0" rtlCol="0" anchor="ctr"/>
          <a:lstStyle/>
          <a:p>
            <a:pPr indent="0" marL="0">
              <a:buNone/>
            </a:pPr>
            <a:r>
              <a:rPr lang="en-US" sz="1200" dirty="0">
                <a:solidFill>
                  <a:schemeClr val="tx1"/>
                </a:solidFill>
              </a:rPr>
              <a:t>Lite0</a:t>
            </a:r>
            <a:endParaRPr lang="en-US" sz="1200" dirty="0"/>
          </a:p>
        </p:txBody>
      </p:sp>
      <p:sp>
        <p:nvSpPr>
          <p:cNvPr id="33" name="flow arrow"/>
          <p:cNvSpPr/>
          <p:nvPr/>
        </p:nvSpPr>
        <p:spPr>
          <a:xfrm rot="5400000">
            <a:off x="7159752" y="3108960"/>
            <a:ext cx="100584" cy="182880"/>
          </a:xfrm>
          <a:prstGeom prst="rtTriangle">
            <a:avLst/>
          </a:prstGeom>
          <a:solidFill>
            <a:srgbClr val="9FD3EA"/>
          </a:solidFill>
          <a:ln/>
        </p:spPr>
      </p:sp>
      <p:sp>
        <p:nvSpPr>
          <p:cNvPr id="34" name="chiplet Narrator"/>
          <p:cNvSpPr/>
          <p:nvPr/>
        </p:nvSpPr>
        <p:spPr>
          <a:xfrm>
            <a:off x="7324344" y="1828800"/>
            <a:ext cx="2029968" cy="2788920"/>
          </a:xfrm>
          <a:prstGeom prst="roundRect">
            <a:avLst>
              <a:gd name="adj" fmla="val 5405"/>
            </a:avLst>
          </a:prstGeom>
          <a:solidFill>
            <a:schemeClr val="bg1"/>
          </a:solidFill>
          <a:ln w="15875">
            <a:solidFill>
              <a:srgbClr val="9FD3EA"/>
            </a:solidFill>
            <a:prstDash val="solid"/>
          </a:ln>
        </p:spPr>
      </p:sp>
      <p:sp>
        <p:nvSpPr>
          <p:cNvPr id="35" name="icon circle"/>
          <p:cNvSpPr/>
          <p:nvPr/>
        </p:nvSpPr>
        <p:spPr>
          <a:xfrm>
            <a:off x="7552944" y="2057400"/>
            <a:ext cx="548640" cy="548640"/>
          </a:xfrm>
          <a:prstGeom prst="ellipse">
            <a:avLst/>
          </a:prstGeom>
          <a:solidFill>
            <a:srgbClr val="0A8FC2"/>
          </a:solidFill>
          <a:ln/>
        </p:spPr>
      </p:sp>
      <p:pic>
        <p:nvPicPr>
          <p:cNvPr id="36" name="icon FaVolumeUp" descr="preencoded.png">    </p:cNvPr>
          <p:cNvPicPr>
            <a:picLocks noChangeAspect="1"/>
          </p:cNvPicPr>
          <p:nvPr/>
        </p:nvPicPr>
        <p:blipFill>
          <a:blip r:embed="rId4"/>
          <a:stretch>
            <a:fillRect/>
          </a:stretch>
        </p:blipFill>
        <p:spPr>
          <a:xfrm>
            <a:off x="7690104" y="2194560"/>
            <a:ext cx="274320" cy="274320"/>
          </a:xfrm>
          <a:prstGeom prst="rect">
            <a:avLst/>
          </a:prstGeom>
        </p:spPr>
      </p:pic>
      <p:sp>
        <p:nvSpPr>
          <p:cNvPr id="37" name="Text 31"/>
          <p:cNvSpPr txBox="1"/>
          <p:nvPr/>
        </p:nvSpPr>
        <p:spPr>
          <a:xfrm>
            <a:off x="7552944" y="2743200"/>
            <a:ext cx="1664208" cy="365760"/>
          </a:xfrm>
          <a:prstGeom prst="rect">
            <a:avLst/>
          </a:prstGeom>
          <a:noFill/>
          <a:ln/>
        </p:spPr>
        <p:txBody>
          <a:bodyPr wrap="square" lIns="0" tIns="0" rIns="0" bIns="0" rtlCol="0" anchor="t"/>
          <a:lstStyle/>
          <a:p>
            <a:pPr indent="0" marL="0">
              <a:buNone/>
            </a:pPr>
            <a:r>
              <a:rPr lang="en-US" sz="1800" b="1" dirty="0">
                <a:solidFill>
                  <a:schemeClr val="tx1"/>
                </a:solidFill>
              </a:rPr>
              <a:t>Narrator</a:t>
            </a:r>
            <a:endParaRPr lang="en-US" sz="1800" dirty="0"/>
          </a:p>
        </p:txBody>
      </p:sp>
      <p:sp>
        <p:nvSpPr>
          <p:cNvPr id="38" name="Text 32"/>
          <p:cNvSpPr txBox="1"/>
          <p:nvPr/>
        </p:nvSpPr>
        <p:spPr>
          <a:xfrm>
            <a:off x="7552944" y="3108960"/>
            <a:ext cx="1664208" cy="320040"/>
          </a:xfrm>
          <a:prstGeom prst="rect">
            <a:avLst/>
          </a:prstGeom>
          <a:noFill/>
          <a:ln/>
        </p:spPr>
        <p:txBody>
          <a:bodyPr wrap="square" lIns="0" tIns="0" rIns="0" bIns="0" rtlCol="0" anchor="t"/>
          <a:lstStyle/>
          <a:p>
            <a:pPr indent="0" marL="0">
              <a:buNone/>
            </a:pPr>
            <a:r>
              <a:rPr lang="en-US" sz="1300" dirty="0">
                <a:solidFill>
                  <a:srgbClr val="5A6577"/>
                </a:solidFill>
              </a:rPr>
              <a:t>speaks results</a:t>
            </a:r>
            <a:endParaRPr lang="en-US" sz="1300" dirty="0"/>
          </a:p>
        </p:txBody>
      </p:sp>
      <p:sp>
        <p:nvSpPr>
          <p:cNvPr id="39" name="profile"/>
          <p:cNvSpPr/>
          <p:nvPr/>
        </p:nvSpPr>
        <p:spPr>
          <a:xfrm>
            <a:off x="7552944" y="3520440"/>
            <a:ext cx="1572768" cy="274320"/>
          </a:xfrm>
          <a:prstGeom prst="roundRect">
            <a:avLst>
              <a:gd name="adj" fmla="val 26667"/>
            </a:avLst>
          </a:prstGeom>
          <a:solidFill>
            <a:srgbClr val="DDF1FA"/>
          </a:solidFill>
          <a:ln/>
        </p:spPr>
      </p:sp>
      <p:sp>
        <p:nvSpPr>
          <p:cNvPr id="40" name="Text 34"/>
          <p:cNvSpPr txBox="1"/>
          <p:nvPr/>
        </p:nvSpPr>
        <p:spPr>
          <a:xfrm>
            <a:off x="7644384" y="3520440"/>
            <a:ext cx="1389888" cy="274320"/>
          </a:xfrm>
          <a:prstGeom prst="rect">
            <a:avLst/>
          </a:prstGeom>
          <a:noFill/>
          <a:ln/>
        </p:spPr>
        <p:txBody>
          <a:bodyPr wrap="square" lIns="0" tIns="0" rIns="0" bIns="0" rtlCol="0" anchor="ctr"/>
          <a:lstStyle/>
          <a:p>
            <a:pPr indent="0" marL="0">
              <a:buNone/>
            </a:pPr>
            <a:r>
              <a:rPr lang="en-US" sz="1200" dirty="0">
                <a:solidFill>
                  <a:schemeClr val="tx1"/>
                </a:solidFill>
              </a:rPr>
              <a:t>every 3 s</a:t>
            </a:r>
            <a:endParaRPr lang="en-US" sz="1200" dirty="0"/>
          </a:p>
        </p:txBody>
      </p:sp>
      <p:sp>
        <p:nvSpPr>
          <p:cNvPr id="41" name="profile"/>
          <p:cNvSpPr/>
          <p:nvPr/>
        </p:nvSpPr>
        <p:spPr>
          <a:xfrm>
            <a:off x="7552944" y="3858768"/>
            <a:ext cx="1572768" cy="274320"/>
          </a:xfrm>
          <a:prstGeom prst="roundRect">
            <a:avLst>
              <a:gd name="adj" fmla="val 26667"/>
            </a:avLst>
          </a:prstGeom>
          <a:solidFill>
            <a:schemeClr val="bg2"/>
          </a:solidFill>
          <a:ln/>
        </p:spPr>
      </p:sp>
      <p:sp>
        <p:nvSpPr>
          <p:cNvPr id="42" name="Text 36"/>
          <p:cNvSpPr txBox="1"/>
          <p:nvPr/>
        </p:nvSpPr>
        <p:spPr>
          <a:xfrm>
            <a:off x="7644384" y="3858768"/>
            <a:ext cx="1389888" cy="274320"/>
          </a:xfrm>
          <a:prstGeom prst="rect">
            <a:avLst/>
          </a:prstGeom>
          <a:noFill/>
          <a:ln/>
        </p:spPr>
        <p:txBody>
          <a:bodyPr wrap="square" lIns="0" tIns="0" rIns="0" bIns="0" rtlCol="0" anchor="ctr"/>
          <a:lstStyle/>
          <a:p>
            <a:pPr indent="0" marL="0">
              <a:buNone/>
            </a:pPr>
            <a:r>
              <a:rPr lang="en-US" sz="1200" dirty="0">
                <a:solidFill>
                  <a:schemeClr val="tx1"/>
                </a:solidFill>
              </a:rPr>
              <a:t>every 6 s</a:t>
            </a:r>
            <a:endParaRPr lang="en-US" sz="1200" dirty="0"/>
          </a:p>
        </p:txBody>
      </p:sp>
      <p:sp>
        <p:nvSpPr>
          <p:cNvPr id="43" name="profile"/>
          <p:cNvSpPr/>
          <p:nvPr/>
        </p:nvSpPr>
        <p:spPr>
          <a:xfrm>
            <a:off x="7552944" y="4197096"/>
            <a:ext cx="1572768" cy="274320"/>
          </a:xfrm>
          <a:prstGeom prst="roundRect">
            <a:avLst>
              <a:gd name="adj" fmla="val 26667"/>
            </a:avLst>
          </a:prstGeom>
          <a:solidFill>
            <a:schemeClr val="bg2"/>
          </a:solidFill>
          <a:ln/>
        </p:spPr>
      </p:sp>
      <p:sp>
        <p:nvSpPr>
          <p:cNvPr id="44" name="Text 38"/>
          <p:cNvSpPr txBox="1"/>
          <p:nvPr/>
        </p:nvSpPr>
        <p:spPr>
          <a:xfrm>
            <a:off x="7644384" y="4197096"/>
            <a:ext cx="1389888" cy="274320"/>
          </a:xfrm>
          <a:prstGeom prst="rect">
            <a:avLst/>
          </a:prstGeom>
          <a:noFill/>
          <a:ln/>
        </p:spPr>
        <p:txBody>
          <a:bodyPr wrap="square" lIns="0" tIns="0" rIns="0" bIns="0" rtlCol="0" anchor="ctr"/>
          <a:lstStyle/>
          <a:p>
            <a:pPr indent="0" marL="0">
              <a:buNone/>
            </a:pPr>
            <a:r>
              <a:rPr lang="en-US" sz="1200" dirty="0">
                <a:solidFill>
                  <a:schemeClr val="tx1"/>
                </a:solidFill>
              </a:rPr>
              <a:t>off</a:t>
            </a:r>
            <a:endParaRPr lang="en-US" sz="1200" dirty="0"/>
          </a:p>
        </p:txBody>
      </p:sp>
      <p:sp>
        <p:nvSpPr>
          <p:cNvPr id="45" name="flow arrow"/>
          <p:cNvSpPr/>
          <p:nvPr/>
        </p:nvSpPr>
        <p:spPr>
          <a:xfrm rot="5400000">
            <a:off x="9418320" y="3108960"/>
            <a:ext cx="100584" cy="182880"/>
          </a:xfrm>
          <a:prstGeom prst="rtTriangle">
            <a:avLst/>
          </a:prstGeom>
          <a:solidFill>
            <a:srgbClr val="9FD3EA"/>
          </a:solidFill>
          <a:ln/>
        </p:spPr>
      </p:sp>
      <p:sp>
        <p:nvSpPr>
          <p:cNvPr id="46" name="chiplet Display"/>
          <p:cNvSpPr/>
          <p:nvPr/>
        </p:nvSpPr>
        <p:spPr>
          <a:xfrm>
            <a:off x="9582912" y="1828800"/>
            <a:ext cx="2029968" cy="2788920"/>
          </a:xfrm>
          <a:prstGeom prst="roundRect">
            <a:avLst>
              <a:gd name="adj" fmla="val 5405"/>
            </a:avLst>
          </a:prstGeom>
          <a:solidFill>
            <a:schemeClr val="bg1"/>
          </a:solidFill>
          <a:ln w="15875">
            <a:solidFill>
              <a:srgbClr val="9FD3EA"/>
            </a:solidFill>
            <a:prstDash val="solid"/>
          </a:ln>
        </p:spPr>
      </p:sp>
      <p:sp>
        <p:nvSpPr>
          <p:cNvPr id="47" name="icon circle"/>
          <p:cNvSpPr/>
          <p:nvPr/>
        </p:nvSpPr>
        <p:spPr>
          <a:xfrm>
            <a:off x="9811512" y="2057400"/>
            <a:ext cx="548640" cy="548640"/>
          </a:xfrm>
          <a:prstGeom prst="ellipse">
            <a:avLst/>
          </a:prstGeom>
          <a:solidFill>
            <a:srgbClr val="0A8FC2"/>
          </a:solidFill>
          <a:ln/>
        </p:spPr>
      </p:sp>
      <p:pic>
        <p:nvPicPr>
          <p:cNvPr id="48" name="icon FaDesktop" descr="preencoded.png">    </p:cNvPr>
          <p:cNvPicPr>
            <a:picLocks noChangeAspect="1"/>
          </p:cNvPicPr>
          <p:nvPr/>
        </p:nvPicPr>
        <p:blipFill>
          <a:blip r:embed="rId5"/>
          <a:stretch>
            <a:fillRect/>
          </a:stretch>
        </p:blipFill>
        <p:spPr>
          <a:xfrm>
            <a:off x="9948672" y="2194560"/>
            <a:ext cx="274320" cy="274320"/>
          </a:xfrm>
          <a:prstGeom prst="rect">
            <a:avLst/>
          </a:prstGeom>
        </p:spPr>
      </p:pic>
      <p:sp>
        <p:nvSpPr>
          <p:cNvPr id="49" name="Text 42"/>
          <p:cNvSpPr txBox="1"/>
          <p:nvPr/>
        </p:nvSpPr>
        <p:spPr>
          <a:xfrm>
            <a:off x="9811512" y="2743200"/>
            <a:ext cx="1664208" cy="365760"/>
          </a:xfrm>
          <a:prstGeom prst="rect">
            <a:avLst/>
          </a:prstGeom>
          <a:noFill/>
          <a:ln/>
        </p:spPr>
        <p:txBody>
          <a:bodyPr wrap="square" lIns="0" tIns="0" rIns="0" bIns="0" rtlCol="0" anchor="t"/>
          <a:lstStyle/>
          <a:p>
            <a:pPr indent="0" marL="0">
              <a:buNone/>
            </a:pPr>
            <a:r>
              <a:rPr lang="en-US" sz="1800" b="1" dirty="0">
                <a:solidFill>
                  <a:schemeClr val="tx1"/>
                </a:solidFill>
              </a:rPr>
              <a:t>Display</a:t>
            </a:r>
            <a:endParaRPr lang="en-US" sz="1800" dirty="0"/>
          </a:p>
        </p:txBody>
      </p:sp>
      <p:sp>
        <p:nvSpPr>
          <p:cNvPr id="50" name="Text 43"/>
          <p:cNvSpPr txBox="1"/>
          <p:nvPr/>
        </p:nvSpPr>
        <p:spPr>
          <a:xfrm>
            <a:off x="9811512" y="3108960"/>
            <a:ext cx="1664208" cy="320040"/>
          </a:xfrm>
          <a:prstGeom prst="rect">
            <a:avLst/>
          </a:prstGeom>
          <a:noFill/>
          <a:ln/>
        </p:spPr>
        <p:txBody>
          <a:bodyPr wrap="square" lIns="0" tIns="0" rIns="0" bIns="0" rtlCol="0" anchor="t"/>
          <a:lstStyle/>
          <a:p>
            <a:pPr indent="0" marL="0">
              <a:buNone/>
            </a:pPr>
            <a:r>
              <a:rPr lang="en-US" sz="1300" dirty="0">
                <a:solidFill>
                  <a:srgbClr val="5A6577"/>
                </a:solidFill>
              </a:rPr>
              <a:t>boxes + brightness</a:t>
            </a:r>
            <a:endParaRPr lang="en-US" sz="1300" dirty="0"/>
          </a:p>
        </p:txBody>
      </p:sp>
      <p:sp>
        <p:nvSpPr>
          <p:cNvPr id="51" name="profile"/>
          <p:cNvSpPr/>
          <p:nvPr/>
        </p:nvSpPr>
        <p:spPr>
          <a:xfrm>
            <a:off x="9811512" y="3520440"/>
            <a:ext cx="1572768" cy="274320"/>
          </a:xfrm>
          <a:prstGeom prst="roundRect">
            <a:avLst>
              <a:gd name="adj" fmla="val 26667"/>
            </a:avLst>
          </a:prstGeom>
          <a:solidFill>
            <a:srgbClr val="DDF1FA"/>
          </a:solidFill>
          <a:ln/>
        </p:spPr>
      </p:sp>
      <p:sp>
        <p:nvSpPr>
          <p:cNvPr id="52" name="Text 45"/>
          <p:cNvSpPr txBox="1"/>
          <p:nvPr/>
        </p:nvSpPr>
        <p:spPr>
          <a:xfrm>
            <a:off x="9902952" y="3520440"/>
            <a:ext cx="1389888" cy="274320"/>
          </a:xfrm>
          <a:prstGeom prst="rect">
            <a:avLst/>
          </a:prstGeom>
          <a:noFill/>
          <a:ln/>
        </p:spPr>
        <p:txBody>
          <a:bodyPr wrap="square" lIns="0" tIns="0" rIns="0" bIns="0" rtlCol="0" anchor="ctr"/>
          <a:lstStyle/>
          <a:p>
            <a:pPr indent="0" marL="0">
              <a:buNone/>
            </a:pPr>
            <a:r>
              <a:rPr lang="en-US" sz="1200" dirty="0">
                <a:solidFill>
                  <a:schemeClr val="tx1"/>
                </a:solidFill>
              </a:rPr>
              <a:t>100%</a:t>
            </a:r>
            <a:endParaRPr lang="en-US" sz="1200" dirty="0"/>
          </a:p>
        </p:txBody>
      </p:sp>
      <p:sp>
        <p:nvSpPr>
          <p:cNvPr id="53" name="profile"/>
          <p:cNvSpPr/>
          <p:nvPr/>
        </p:nvSpPr>
        <p:spPr>
          <a:xfrm>
            <a:off x="9811512" y="3858768"/>
            <a:ext cx="1572768" cy="274320"/>
          </a:xfrm>
          <a:prstGeom prst="roundRect">
            <a:avLst>
              <a:gd name="adj" fmla="val 26667"/>
            </a:avLst>
          </a:prstGeom>
          <a:solidFill>
            <a:schemeClr val="bg2"/>
          </a:solidFill>
          <a:ln/>
        </p:spPr>
      </p:sp>
      <p:sp>
        <p:nvSpPr>
          <p:cNvPr id="54" name="Text 47"/>
          <p:cNvSpPr txBox="1"/>
          <p:nvPr/>
        </p:nvSpPr>
        <p:spPr>
          <a:xfrm>
            <a:off x="9902952" y="3858768"/>
            <a:ext cx="1389888" cy="274320"/>
          </a:xfrm>
          <a:prstGeom prst="rect">
            <a:avLst/>
          </a:prstGeom>
          <a:noFill/>
          <a:ln/>
        </p:spPr>
        <p:txBody>
          <a:bodyPr wrap="square" lIns="0" tIns="0" rIns="0" bIns="0" rtlCol="0" anchor="ctr"/>
          <a:lstStyle/>
          <a:p>
            <a:pPr indent="0" marL="0">
              <a:buNone/>
            </a:pPr>
            <a:r>
              <a:rPr lang="en-US" sz="1200" dirty="0">
                <a:solidFill>
                  <a:schemeClr val="tx1"/>
                </a:solidFill>
              </a:rPr>
              <a:t>35%</a:t>
            </a:r>
            <a:endParaRPr lang="en-US" sz="1200" dirty="0"/>
          </a:p>
        </p:txBody>
      </p:sp>
      <p:sp>
        <p:nvSpPr>
          <p:cNvPr id="55" name="profile"/>
          <p:cNvSpPr/>
          <p:nvPr/>
        </p:nvSpPr>
        <p:spPr>
          <a:xfrm>
            <a:off x="9811512" y="4197096"/>
            <a:ext cx="1572768" cy="274320"/>
          </a:xfrm>
          <a:prstGeom prst="roundRect">
            <a:avLst>
              <a:gd name="adj" fmla="val 26667"/>
            </a:avLst>
          </a:prstGeom>
          <a:solidFill>
            <a:schemeClr val="bg2"/>
          </a:solidFill>
          <a:ln/>
        </p:spPr>
      </p:sp>
      <p:sp>
        <p:nvSpPr>
          <p:cNvPr id="56" name="Text 49"/>
          <p:cNvSpPr txBox="1"/>
          <p:nvPr/>
        </p:nvSpPr>
        <p:spPr>
          <a:xfrm>
            <a:off x="9902952" y="4197096"/>
            <a:ext cx="1389888" cy="274320"/>
          </a:xfrm>
          <a:prstGeom prst="rect">
            <a:avLst/>
          </a:prstGeom>
          <a:noFill/>
          <a:ln/>
        </p:spPr>
        <p:txBody>
          <a:bodyPr wrap="square" lIns="0" tIns="0" rIns="0" bIns="0" rtlCol="0" anchor="ctr"/>
          <a:lstStyle/>
          <a:p>
            <a:pPr indent="0" marL="0">
              <a:buNone/>
            </a:pPr>
            <a:r>
              <a:rPr lang="en-US" sz="1200" dirty="0">
                <a:solidFill>
                  <a:schemeClr val="tx1"/>
                </a:solidFill>
              </a:rPr>
              <a:t>8%</a:t>
            </a:r>
            <a:endParaRPr lang="en-US" sz="1200" dirty="0"/>
          </a:p>
        </p:txBody>
      </p:sp>
      <p:sp>
        <p:nvSpPr>
          <p:cNvPr id="57" name="icon circle"/>
          <p:cNvSpPr/>
          <p:nvPr/>
        </p:nvSpPr>
        <p:spPr>
          <a:xfrm>
            <a:off x="548640" y="4983480"/>
            <a:ext cx="457200" cy="457200"/>
          </a:xfrm>
          <a:prstGeom prst="ellipse">
            <a:avLst/>
          </a:prstGeom>
          <a:solidFill>
            <a:srgbClr val="1A5CFF"/>
          </a:solidFill>
          <a:ln/>
        </p:spPr>
      </p:sp>
      <p:pic>
        <p:nvPicPr>
          <p:cNvPr id="58" name="icon FaSlidersH" descr="preencoded.png">    </p:cNvPr>
          <p:cNvPicPr>
            <a:picLocks noChangeAspect="1"/>
          </p:cNvPicPr>
          <p:nvPr/>
        </p:nvPicPr>
        <p:blipFill>
          <a:blip r:embed="rId6"/>
          <a:stretch>
            <a:fillRect/>
          </a:stretch>
        </p:blipFill>
        <p:spPr>
          <a:xfrm>
            <a:off x="662940" y="5097780"/>
            <a:ext cx="228600" cy="228600"/>
          </a:xfrm>
          <a:prstGeom prst="rect">
            <a:avLst/>
          </a:prstGeom>
        </p:spPr>
      </p:pic>
      <p:sp>
        <p:nvSpPr>
          <p:cNvPr id="59" name="Text 51"/>
          <p:cNvSpPr txBox="1"/>
          <p:nvPr/>
        </p:nvSpPr>
        <p:spPr>
          <a:xfrm>
            <a:off x="1143000" y="4937760"/>
            <a:ext cx="3017520" cy="320040"/>
          </a:xfrm>
          <a:prstGeom prst="rect">
            <a:avLst/>
          </a:prstGeom>
          <a:noFill/>
          <a:ln/>
        </p:spPr>
        <p:txBody>
          <a:bodyPr wrap="square" lIns="0" tIns="0" rIns="0" bIns="0" rtlCol="0" anchor="t"/>
          <a:lstStyle/>
          <a:p>
            <a:pPr indent="0" marL="0">
              <a:buNone/>
            </a:pPr>
            <a:r>
              <a:rPr lang="en-US" sz="1500" b="1" dirty="0">
                <a:solidFill>
                  <a:schemeClr val="tx1"/>
                </a:solidFill>
              </a:rPr>
              <a:t>Power profiles</a:t>
            </a:r>
            <a:endParaRPr lang="en-US" sz="1500" dirty="0"/>
          </a:p>
        </p:txBody>
      </p:sp>
      <p:sp>
        <p:nvSpPr>
          <p:cNvPr id="60" name="Text 52"/>
          <p:cNvSpPr txBox="1"/>
          <p:nvPr/>
        </p:nvSpPr>
        <p:spPr>
          <a:xfrm>
            <a:off x="1143000" y="5257800"/>
            <a:ext cx="3017520" cy="548640"/>
          </a:xfrm>
          <a:prstGeom prst="rect">
            <a:avLst/>
          </a:prstGeom>
          <a:noFill/>
          <a:ln/>
        </p:spPr>
        <p:txBody>
          <a:bodyPr wrap="square" lIns="0" tIns="0" rIns="0" bIns="0" rtlCol="0" anchor="t"/>
          <a:lstStyle/>
          <a:p>
            <a:pPr indent="0" marL="0">
              <a:buNone/>
            </a:pPr>
            <a:r>
              <a:rPr lang="en-US" sz="1300" dirty="0">
                <a:solidFill>
                  <a:srgbClr val="5A6577"/>
                </a:solidFill>
              </a:rPr>
              <a:t>each chiplet has levels it can run at</a:t>
            </a:r>
            <a:endParaRPr lang="en-US" sz="1300" dirty="0"/>
          </a:p>
        </p:txBody>
      </p:sp>
      <p:sp>
        <p:nvSpPr>
          <p:cNvPr id="61" name="icon circle"/>
          <p:cNvSpPr/>
          <p:nvPr/>
        </p:nvSpPr>
        <p:spPr>
          <a:xfrm>
            <a:off x="4297680" y="4983480"/>
            <a:ext cx="457200" cy="457200"/>
          </a:xfrm>
          <a:prstGeom prst="ellipse">
            <a:avLst/>
          </a:prstGeom>
          <a:solidFill>
            <a:srgbClr val="1A5CFF"/>
          </a:solidFill>
          <a:ln/>
        </p:spPr>
      </p:sp>
      <p:pic>
        <p:nvPicPr>
          <p:cNvPr id="62" name="icon FaChartBar" descr="preencoded.png">    </p:cNvPr>
          <p:cNvPicPr>
            <a:picLocks noChangeAspect="1"/>
          </p:cNvPicPr>
          <p:nvPr/>
        </p:nvPicPr>
        <p:blipFill>
          <a:blip r:embed="rId7"/>
          <a:stretch>
            <a:fillRect/>
          </a:stretch>
        </p:blipFill>
        <p:spPr>
          <a:xfrm>
            <a:off x="4411980" y="5097780"/>
            <a:ext cx="228600" cy="228600"/>
          </a:xfrm>
          <a:prstGeom prst="rect">
            <a:avLst/>
          </a:prstGeom>
        </p:spPr>
      </p:pic>
      <p:sp>
        <p:nvSpPr>
          <p:cNvPr id="63" name="Text 54"/>
          <p:cNvSpPr txBox="1"/>
          <p:nvPr/>
        </p:nvSpPr>
        <p:spPr>
          <a:xfrm>
            <a:off x="4892040" y="4937760"/>
            <a:ext cx="3017520" cy="320040"/>
          </a:xfrm>
          <a:prstGeom prst="rect">
            <a:avLst/>
          </a:prstGeom>
          <a:noFill/>
          <a:ln/>
        </p:spPr>
        <p:txBody>
          <a:bodyPr wrap="square" lIns="0" tIns="0" rIns="0" bIns="0" rtlCol="0" anchor="t"/>
          <a:lstStyle/>
          <a:p>
            <a:pPr indent="0" marL="0">
              <a:buNone/>
            </a:pPr>
            <a:r>
              <a:rPr lang="en-US" sz="1500" b="1" dirty="0">
                <a:solidFill>
                  <a:schemeClr val="tx1"/>
                </a:solidFill>
              </a:rPr>
              <a:t>Live cost and quality</a:t>
            </a:r>
            <a:endParaRPr lang="en-US" sz="1500" dirty="0"/>
          </a:p>
        </p:txBody>
      </p:sp>
      <p:sp>
        <p:nvSpPr>
          <p:cNvPr id="64" name="Text 55"/>
          <p:cNvSpPr txBox="1"/>
          <p:nvPr/>
        </p:nvSpPr>
        <p:spPr>
          <a:xfrm>
            <a:off x="4892040" y="5257800"/>
            <a:ext cx="3017520" cy="548640"/>
          </a:xfrm>
          <a:prstGeom prst="rect">
            <a:avLst/>
          </a:prstGeom>
          <a:noFill/>
          <a:ln/>
        </p:spPr>
        <p:txBody>
          <a:bodyPr wrap="square" lIns="0" tIns="0" rIns="0" bIns="0" rtlCol="0" anchor="t"/>
          <a:lstStyle/>
          <a:p>
            <a:pPr indent="0" marL="0">
              <a:buNone/>
            </a:pPr>
            <a:r>
              <a:rPr lang="en-US" sz="1300" dirty="0">
                <a:solidFill>
                  <a:srgbClr val="5A6577"/>
                </a:solidFill>
              </a:rPr>
              <a:t>every chiplet reports what it spends</a:t>
            </a:r>
            <a:endParaRPr lang="en-US" sz="1300" dirty="0"/>
          </a:p>
        </p:txBody>
      </p:sp>
      <p:sp>
        <p:nvSpPr>
          <p:cNvPr id="65" name="icon circle"/>
          <p:cNvSpPr/>
          <p:nvPr/>
        </p:nvSpPr>
        <p:spPr>
          <a:xfrm>
            <a:off x="8046720" y="4983480"/>
            <a:ext cx="457200" cy="457200"/>
          </a:xfrm>
          <a:prstGeom prst="ellipse">
            <a:avLst/>
          </a:prstGeom>
          <a:solidFill>
            <a:srgbClr val="1A5CFF"/>
          </a:solidFill>
          <a:ln/>
        </p:spPr>
      </p:sp>
      <p:pic>
        <p:nvPicPr>
          <p:cNvPr id="66" name="icon FaPlug" descr="preencoded.png">    </p:cNvPr>
          <p:cNvPicPr>
            <a:picLocks noChangeAspect="1"/>
          </p:cNvPicPr>
          <p:nvPr/>
        </p:nvPicPr>
        <p:blipFill>
          <a:blip r:embed="rId8"/>
          <a:stretch>
            <a:fillRect/>
          </a:stretch>
        </p:blipFill>
        <p:spPr>
          <a:xfrm>
            <a:off x="8161020" y="5097780"/>
            <a:ext cx="228600" cy="228600"/>
          </a:xfrm>
          <a:prstGeom prst="rect">
            <a:avLst/>
          </a:prstGeom>
        </p:spPr>
      </p:pic>
      <p:sp>
        <p:nvSpPr>
          <p:cNvPr id="67" name="Text 57"/>
          <p:cNvSpPr txBox="1"/>
          <p:nvPr/>
        </p:nvSpPr>
        <p:spPr>
          <a:xfrm>
            <a:off x="8641080" y="4937760"/>
            <a:ext cx="3017520" cy="320040"/>
          </a:xfrm>
          <a:prstGeom prst="rect">
            <a:avLst/>
          </a:prstGeom>
          <a:noFill/>
          <a:ln/>
        </p:spPr>
        <p:txBody>
          <a:bodyPr wrap="square" lIns="0" tIns="0" rIns="0" bIns="0" rtlCol="0" anchor="t"/>
          <a:lstStyle/>
          <a:p>
            <a:pPr indent="0" marL="0">
              <a:buNone/>
            </a:pPr>
            <a:r>
              <a:rPr lang="en-US" sz="1500" b="1" dirty="0">
                <a:solidFill>
                  <a:schemeClr val="tx1"/>
                </a:solidFill>
              </a:rPr>
              <a:t>Any model plugs in</a:t>
            </a:r>
            <a:endParaRPr lang="en-US" sz="1500" dirty="0"/>
          </a:p>
        </p:txBody>
      </p:sp>
      <p:sp>
        <p:nvSpPr>
          <p:cNvPr id="68" name="Text 58"/>
          <p:cNvSpPr txBox="1"/>
          <p:nvPr/>
        </p:nvSpPr>
        <p:spPr>
          <a:xfrm>
            <a:off x="8641080" y="5257800"/>
            <a:ext cx="3017520" cy="548640"/>
          </a:xfrm>
          <a:prstGeom prst="rect">
            <a:avLst/>
          </a:prstGeom>
          <a:noFill/>
          <a:ln/>
        </p:spPr>
        <p:txBody>
          <a:bodyPr wrap="square" lIns="0" tIns="0" rIns="0" bIns="0" rtlCol="0" anchor="t"/>
          <a:lstStyle/>
          <a:p>
            <a:pPr indent="0" marL="0">
              <a:buNone/>
            </a:pPr>
            <a:r>
              <a:rPr lang="en-US" sz="1300" dirty="0">
                <a:solidFill>
                  <a:srgbClr val="5A6577"/>
                </a:solidFill>
              </a:rPr>
              <a:t>today detection; next a chatbot or game AI</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Weaver: the heart that balances every chiplet</a:t>
            </a:r>
            <a:endParaRPr lang="en-US" sz="3200" dirty="0"/>
          </a:p>
        </p:txBody>
      </p:sp>
      <p:sp>
        <p:nvSpPr>
          <p:cNvPr id="3" name="weaver step 1"/>
          <p:cNvSpPr/>
          <p:nvPr/>
        </p:nvSpPr>
        <p:spPr>
          <a:xfrm>
            <a:off x="548640" y="1417320"/>
            <a:ext cx="2514600" cy="2240280"/>
          </a:xfrm>
          <a:prstGeom prst="roundRect">
            <a:avLst>
              <a:gd name="adj" fmla="val 4898"/>
            </a:avLst>
          </a:prstGeom>
          <a:solidFill>
            <a:schemeClr val="bg2"/>
          </a:solidFill>
          <a:ln/>
        </p:spPr>
      </p:sp>
      <p:sp>
        <p:nvSpPr>
          <p:cNvPr id="4" name="icon circle"/>
          <p:cNvSpPr/>
          <p:nvPr/>
        </p:nvSpPr>
        <p:spPr>
          <a:xfrm>
            <a:off x="822960" y="1691640"/>
            <a:ext cx="566928" cy="566928"/>
          </a:xfrm>
          <a:prstGeom prst="ellipse">
            <a:avLst/>
          </a:prstGeom>
          <a:solidFill>
            <a:srgbClr val="1A5CFF"/>
          </a:solidFill>
          <a:ln/>
        </p:spPr>
      </p:sp>
      <p:pic>
        <p:nvPicPr>
          <p:cNvPr id="5" name="icon FaEye" descr="preencoded.png">    </p:cNvPr>
          <p:cNvPicPr>
            <a:picLocks noChangeAspect="1"/>
          </p:cNvPicPr>
          <p:nvPr/>
        </p:nvPicPr>
        <p:blipFill>
          <a:blip r:embed="rId1"/>
          <a:stretch>
            <a:fillRect/>
          </a:stretch>
        </p:blipFill>
        <p:spPr>
          <a:xfrm>
            <a:off x="964692" y="1833372"/>
            <a:ext cx="283464" cy="283464"/>
          </a:xfrm>
          <a:prstGeom prst="rect">
            <a:avLst/>
          </a:prstGeom>
        </p:spPr>
      </p:pic>
      <p:sp>
        <p:nvSpPr>
          <p:cNvPr id="6" name="Text 3"/>
          <p:cNvSpPr txBox="1"/>
          <p:nvPr/>
        </p:nvSpPr>
        <p:spPr>
          <a:xfrm>
            <a:off x="2423160" y="1691640"/>
            <a:ext cx="365760" cy="548640"/>
          </a:xfrm>
          <a:prstGeom prst="rect">
            <a:avLst/>
          </a:prstGeom>
          <a:noFill/>
          <a:ln/>
        </p:spPr>
        <p:txBody>
          <a:bodyPr wrap="square" lIns="0" tIns="0" rIns="0" bIns="0" rtlCol="0" anchor="t"/>
          <a:lstStyle/>
          <a:p>
            <a:pPr algn="r" indent="0" marL="0">
              <a:buNone/>
            </a:pPr>
            <a:r>
              <a:rPr lang="en-US" sz="2800" b="1" dirty="0">
                <a:solidFill>
                  <a:srgbClr val="B8C7E6"/>
                </a:solidFill>
              </a:rPr>
              <a:t>1</a:t>
            </a:r>
            <a:endParaRPr lang="en-US" sz="2800" dirty="0"/>
          </a:p>
        </p:txBody>
      </p:sp>
      <p:sp>
        <p:nvSpPr>
          <p:cNvPr id="7" name="Text 4"/>
          <p:cNvSpPr txBox="1"/>
          <p:nvPr/>
        </p:nvSpPr>
        <p:spPr>
          <a:xfrm>
            <a:off x="822960" y="2423160"/>
            <a:ext cx="1965960" cy="365760"/>
          </a:xfrm>
          <a:prstGeom prst="rect">
            <a:avLst/>
          </a:prstGeom>
          <a:noFill/>
          <a:ln/>
        </p:spPr>
        <p:txBody>
          <a:bodyPr wrap="square" lIns="0" tIns="0" rIns="0" bIns="0" rtlCol="0" anchor="t"/>
          <a:lstStyle/>
          <a:p>
            <a:pPr indent="0" marL="0">
              <a:buNone/>
            </a:pPr>
            <a:r>
              <a:rPr lang="en-US" sz="1900" b="1" dirty="0">
                <a:solidFill>
                  <a:schemeClr val="tx1"/>
                </a:solidFill>
              </a:rPr>
              <a:t>Sense</a:t>
            </a:r>
            <a:endParaRPr lang="en-US" sz="1900" dirty="0"/>
          </a:p>
        </p:txBody>
      </p:sp>
      <p:sp>
        <p:nvSpPr>
          <p:cNvPr id="8" name="Text 5"/>
          <p:cNvSpPr txBox="1"/>
          <p:nvPr/>
        </p:nvSpPr>
        <p:spPr>
          <a:xfrm>
            <a:off x="822960" y="2816352"/>
            <a:ext cx="1965960" cy="731520"/>
          </a:xfrm>
          <a:prstGeom prst="rect">
            <a:avLst/>
          </a:prstGeom>
          <a:noFill/>
          <a:ln/>
        </p:spPr>
        <p:txBody>
          <a:bodyPr wrap="square" lIns="0" tIns="0" rIns="0" bIns="0" rtlCol="0" anchor="t"/>
          <a:lstStyle/>
          <a:p>
            <a:pPr indent="0" marL="0">
              <a:buNone/>
            </a:pPr>
            <a:r>
              <a:rPr lang="en-US" sz="1400" dirty="0">
                <a:solidFill>
                  <a:srgbClr val="5A6577"/>
                </a:solidFill>
              </a:rPr>
              <a:t>heat, battery mA and FPS from Android, every second</a:t>
            </a:r>
            <a:endParaRPr lang="en-US" sz="1400" dirty="0"/>
          </a:p>
        </p:txBody>
      </p:sp>
      <p:sp>
        <p:nvSpPr>
          <p:cNvPr id="9" name="flow arrow"/>
          <p:cNvSpPr/>
          <p:nvPr/>
        </p:nvSpPr>
        <p:spPr>
          <a:xfrm rot="5400000">
            <a:off x="3182112" y="2450592"/>
            <a:ext cx="109728" cy="201168"/>
          </a:xfrm>
          <a:prstGeom prst="rtTriangle">
            <a:avLst/>
          </a:prstGeom>
          <a:solidFill>
            <a:srgbClr val="B8C7E6"/>
          </a:solidFill>
          <a:ln/>
        </p:spPr>
      </p:sp>
      <p:sp>
        <p:nvSpPr>
          <p:cNvPr id="10" name="weaver step 2"/>
          <p:cNvSpPr/>
          <p:nvPr/>
        </p:nvSpPr>
        <p:spPr>
          <a:xfrm>
            <a:off x="3398825" y="1417320"/>
            <a:ext cx="2514600" cy="2240280"/>
          </a:xfrm>
          <a:prstGeom prst="roundRect">
            <a:avLst>
              <a:gd name="adj" fmla="val 4898"/>
            </a:avLst>
          </a:prstGeom>
          <a:solidFill>
            <a:schemeClr val="bg2"/>
          </a:solidFill>
          <a:ln/>
        </p:spPr>
      </p:sp>
      <p:sp>
        <p:nvSpPr>
          <p:cNvPr id="11" name="icon circle"/>
          <p:cNvSpPr/>
          <p:nvPr/>
        </p:nvSpPr>
        <p:spPr>
          <a:xfrm>
            <a:off x="3673145" y="1691640"/>
            <a:ext cx="566928" cy="566928"/>
          </a:xfrm>
          <a:prstGeom prst="ellipse">
            <a:avLst/>
          </a:prstGeom>
          <a:solidFill>
            <a:srgbClr val="1A5CFF"/>
          </a:solidFill>
          <a:ln/>
        </p:spPr>
      </p:sp>
      <p:pic>
        <p:nvPicPr>
          <p:cNvPr id="12" name="icon FaRoute" descr="preencoded.png">    </p:cNvPr>
          <p:cNvPicPr>
            <a:picLocks noChangeAspect="1"/>
          </p:cNvPicPr>
          <p:nvPr/>
        </p:nvPicPr>
        <p:blipFill>
          <a:blip r:embed="rId2"/>
          <a:stretch>
            <a:fillRect/>
          </a:stretch>
        </p:blipFill>
        <p:spPr>
          <a:xfrm>
            <a:off x="3814877" y="1833372"/>
            <a:ext cx="283464" cy="283464"/>
          </a:xfrm>
          <a:prstGeom prst="rect">
            <a:avLst/>
          </a:prstGeom>
        </p:spPr>
      </p:pic>
      <p:sp>
        <p:nvSpPr>
          <p:cNvPr id="13" name="Text 9"/>
          <p:cNvSpPr txBox="1"/>
          <p:nvPr/>
        </p:nvSpPr>
        <p:spPr>
          <a:xfrm>
            <a:off x="5273345" y="1691640"/>
            <a:ext cx="365760" cy="548640"/>
          </a:xfrm>
          <a:prstGeom prst="rect">
            <a:avLst/>
          </a:prstGeom>
          <a:noFill/>
          <a:ln/>
        </p:spPr>
        <p:txBody>
          <a:bodyPr wrap="square" lIns="0" tIns="0" rIns="0" bIns="0" rtlCol="0" anchor="t"/>
          <a:lstStyle/>
          <a:p>
            <a:pPr algn="r" indent="0" marL="0">
              <a:buNone/>
            </a:pPr>
            <a:r>
              <a:rPr lang="en-US" sz="2800" b="1" dirty="0">
                <a:solidFill>
                  <a:srgbClr val="B8C7E6"/>
                </a:solidFill>
              </a:rPr>
              <a:t>2</a:t>
            </a:r>
            <a:endParaRPr lang="en-US" sz="2800" dirty="0"/>
          </a:p>
        </p:txBody>
      </p:sp>
      <p:sp>
        <p:nvSpPr>
          <p:cNvPr id="14" name="Text 10"/>
          <p:cNvSpPr txBox="1"/>
          <p:nvPr/>
        </p:nvSpPr>
        <p:spPr>
          <a:xfrm>
            <a:off x="3673145" y="2423160"/>
            <a:ext cx="1965960" cy="365760"/>
          </a:xfrm>
          <a:prstGeom prst="rect">
            <a:avLst/>
          </a:prstGeom>
          <a:noFill/>
          <a:ln/>
        </p:spPr>
        <p:txBody>
          <a:bodyPr wrap="square" lIns="0" tIns="0" rIns="0" bIns="0" rtlCol="0" anchor="t"/>
          <a:lstStyle/>
          <a:p>
            <a:pPr indent="0" marL="0">
              <a:buNone/>
            </a:pPr>
            <a:r>
              <a:rPr lang="en-US" sz="1900" b="1" dirty="0">
                <a:solidFill>
                  <a:schemeClr val="tx1"/>
                </a:solidFill>
              </a:rPr>
              <a:t>Plan</a:t>
            </a:r>
            <a:endParaRPr lang="en-US" sz="1900" dirty="0"/>
          </a:p>
        </p:txBody>
      </p:sp>
      <p:sp>
        <p:nvSpPr>
          <p:cNvPr id="15" name="Text 11"/>
          <p:cNvSpPr txBox="1"/>
          <p:nvPr/>
        </p:nvSpPr>
        <p:spPr>
          <a:xfrm>
            <a:off x="3673145" y="2816352"/>
            <a:ext cx="1965960" cy="731520"/>
          </a:xfrm>
          <a:prstGeom prst="rect">
            <a:avLst/>
          </a:prstGeom>
          <a:noFill/>
          <a:ln/>
        </p:spPr>
        <p:txBody>
          <a:bodyPr wrap="square" lIns="0" tIns="0" rIns="0" bIns="0" rtlCol="0" anchor="t"/>
          <a:lstStyle/>
          <a:p>
            <a:pPr indent="0" marL="0">
              <a:buNone/>
            </a:pPr>
            <a:r>
              <a:rPr lang="en-US" sz="1400" dirty="0">
                <a:solidFill>
                  <a:srgbClr val="5A6577"/>
                </a:solidFill>
              </a:rPr>
              <a:t>look up the quantum plan for this goal and heat</a:t>
            </a:r>
            <a:endParaRPr lang="en-US" sz="1400" dirty="0"/>
          </a:p>
        </p:txBody>
      </p:sp>
      <p:sp>
        <p:nvSpPr>
          <p:cNvPr id="16" name="flow arrow"/>
          <p:cNvSpPr/>
          <p:nvPr/>
        </p:nvSpPr>
        <p:spPr>
          <a:xfrm rot="5400000">
            <a:off x="6032297" y="2450592"/>
            <a:ext cx="109728" cy="201168"/>
          </a:xfrm>
          <a:prstGeom prst="rtTriangle">
            <a:avLst/>
          </a:prstGeom>
          <a:solidFill>
            <a:srgbClr val="B8C7E6"/>
          </a:solidFill>
          <a:ln/>
        </p:spPr>
      </p:sp>
      <p:sp>
        <p:nvSpPr>
          <p:cNvPr id="17" name="weaver step 3"/>
          <p:cNvSpPr/>
          <p:nvPr/>
        </p:nvSpPr>
        <p:spPr>
          <a:xfrm>
            <a:off x="6249010" y="1417320"/>
            <a:ext cx="2514600" cy="2240280"/>
          </a:xfrm>
          <a:prstGeom prst="roundRect">
            <a:avLst>
              <a:gd name="adj" fmla="val 4898"/>
            </a:avLst>
          </a:prstGeom>
          <a:solidFill>
            <a:schemeClr val="bg2"/>
          </a:solidFill>
          <a:ln/>
        </p:spPr>
      </p:sp>
      <p:sp>
        <p:nvSpPr>
          <p:cNvPr id="18" name="icon circle"/>
          <p:cNvSpPr/>
          <p:nvPr/>
        </p:nvSpPr>
        <p:spPr>
          <a:xfrm>
            <a:off x="6523330" y="1691640"/>
            <a:ext cx="566928" cy="566928"/>
          </a:xfrm>
          <a:prstGeom prst="ellipse">
            <a:avLst/>
          </a:prstGeom>
          <a:solidFill>
            <a:srgbClr val="1A5CFF"/>
          </a:solidFill>
          <a:ln/>
        </p:spPr>
      </p:sp>
      <p:pic>
        <p:nvPicPr>
          <p:cNvPr id="19" name="icon FaShieldAlt" descr="preencoded.png">    </p:cNvPr>
          <p:cNvPicPr>
            <a:picLocks noChangeAspect="1"/>
          </p:cNvPicPr>
          <p:nvPr/>
        </p:nvPicPr>
        <p:blipFill>
          <a:blip r:embed="rId3"/>
          <a:stretch>
            <a:fillRect/>
          </a:stretch>
        </p:blipFill>
        <p:spPr>
          <a:xfrm>
            <a:off x="6665062" y="1833372"/>
            <a:ext cx="283464" cy="283464"/>
          </a:xfrm>
          <a:prstGeom prst="rect">
            <a:avLst/>
          </a:prstGeom>
        </p:spPr>
      </p:pic>
      <p:sp>
        <p:nvSpPr>
          <p:cNvPr id="20" name="Text 15"/>
          <p:cNvSpPr txBox="1"/>
          <p:nvPr/>
        </p:nvSpPr>
        <p:spPr>
          <a:xfrm>
            <a:off x="8123530" y="1691640"/>
            <a:ext cx="365760" cy="548640"/>
          </a:xfrm>
          <a:prstGeom prst="rect">
            <a:avLst/>
          </a:prstGeom>
          <a:noFill/>
          <a:ln/>
        </p:spPr>
        <p:txBody>
          <a:bodyPr wrap="square" lIns="0" tIns="0" rIns="0" bIns="0" rtlCol="0" anchor="t"/>
          <a:lstStyle/>
          <a:p>
            <a:pPr algn="r" indent="0" marL="0">
              <a:buNone/>
            </a:pPr>
            <a:r>
              <a:rPr lang="en-US" sz="2800" b="1" dirty="0">
                <a:solidFill>
                  <a:srgbClr val="B8C7E6"/>
                </a:solidFill>
              </a:rPr>
              <a:t>3</a:t>
            </a:r>
            <a:endParaRPr lang="en-US" sz="2800" dirty="0"/>
          </a:p>
        </p:txBody>
      </p:sp>
      <p:sp>
        <p:nvSpPr>
          <p:cNvPr id="21" name="Text 16"/>
          <p:cNvSpPr txBox="1"/>
          <p:nvPr/>
        </p:nvSpPr>
        <p:spPr>
          <a:xfrm>
            <a:off x="6523330" y="2423160"/>
            <a:ext cx="1965960" cy="365760"/>
          </a:xfrm>
          <a:prstGeom prst="rect">
            <a:avLst/>
          </a:prstGeom>
          <a:noFill/>
          <a:ln/>
        </p:spPr>
        <p:txBody>
          <a:bodyPr wrap="square" lIns="0" tIns="0" rIns="0" bIns="0" rtlCol="0" anchor="t"/>
          <a:lstStyle/>
          <a:p>
            <a:pPr indent="0" marL="0">
              <a:buNone/>
            </a:pPr>
            <a:r>
              <a:rPr lang="en-US" sz="1900" b="1" dirty="0">
                <a:solidFill>
                  <a:schemeClr val="tx1"/>
                </a:solidFill>
              </a:rPr>
              <a:t>Reflex</a:t>
            </a:r>
            <a:endParaRPr lang="en-US" sz="1900" dirty="0"/>
          </a:p>
        </p:txBody>
      </p:sp>
      <p:sp>
        <p:nvSpPr>
          <p:cNvPr id="22" name="Text 17"/>
          <p:cNvSpPr txBox="1"/>
          <p:nvPr/>
        </p:nvSpPr>
        <p:spPr>
          <a:xfrm>
            <a:off x="6523330" y="2816352"/>
            <a:ext cx="1965960" cy="731520"/>
          </a:xfrm>
          <a:prstGeom prst="rect">
            <a:avLst/>
          </a:prstGeom>
          <a:noFill/>
          <a:ln/>
        </p:spPr>
        <p:txBody>
          <a:bodyPr wrap="square" lIns="0" tIns="0" rIns="0" bIns="0" rtlCol="0" anchor="t"/>
          <a:lstStyle/>
          <a:p>
            <a:pPr indent="0" marL="0">
              <a:buNone/>
            </a:pPr>
            <a:r>
              <a:rPr lang="en-US" sz="1400" dirty="0">
                <a:solidFill>
                  <a:srgbClr val="5A6577"/>
                </a:solidFill>
              </a:rPr>
              <a:t>over the 0.80 limit? step one chiplet down</a:t>
            </a:r>
            <a:endParaRPr lang="en-US" sz="1400" dirty="0"/>
          </a:p>
        </p:txBody>
      </p:sp>
      <p:sp>
        <p:nvSpPr>
          <p:cNvPr id="23" name="flow arrow"/>
          <p:cNvSpPr/>
          <p:nvPr/>
        </p:nvSpPr>
        <p:spPr>
          <a:xfrm rot="5400000">
            <a:off x="8882482" y="2450592"/>
            <a:ext cx="109728" cy="201168"/>
          </a:xfrm>
          <a:prstGeom prst="rtTriangle">
            <a:avLst/>
          </a:prstGeom>
          <a:solidFill>
            <a:srgbClr val="B8C7E6"/>
          </a:solidFill>
          <a:ln/>
        </p:spPr>
      </p:sp>
      <p:sp>
        <p:nvSpPr>
          <p:cNvPr id="24" name="weaver step 4"/>
          <p:cNvSpPr/>
          <p:nvPr/>
        </p:nvSpPr>
        <p:spPr>
          <a:xfrm>
            <a:off x="9099194" y="1417320"/>
            <a:ext cx="2514600" cy="2240280"/>
          </a:xfrm>
          <a:prstGeom prst="roundRect">
            <a:avLst>
              <a:gd name="adj" fmla="val 4898"/>
            </a:avLst>
          </a:prstGeom>
          <a:solidFill>
            <a:schemeClr val="bg2"/>
          </a:solidFill>
          <a:ln/>
        </p:spPr>
      </p:sp>
      <p:sp>
        <p:nvSpPr>
          <p:cNvPr id="25" name="icon circle"/>
          <p:cNvSpPr/>
          <p:nvPr/>
        </p:nvSpPr>
        <p:spPr>
          <a:xfrm>
            <a:off x="9373514" y="1691640"/>
            <a:ext cx="566928" cy="566928"/>
          </a:xfrm>
          <a:prstGeom prst="ellipse">
            <a:avLst/>
          </a:prstGeom>
          <a:solidFill>
            <a:srgbClr val="1A5CFF"/>
          </a:solidFill>
          <a:ln/>
        </p:spPr>
      </p:sp>
      <p:pic>
        <p:nvPicPr>
          <p:cNvPr id="26" name="icon FaExchangeAlt" descr="preencoded.png">    </p:cNvPr>
          <p:cNvPicPr>
            <a:picLocks noChangeAspect="1"/>
          </p:cNvPicPr>
          <p:nvPr/>
        </p:nvPicPr>
        <p:blipFill>
          <a:blip r:embed="rId4"/>
          <a:stretch>
            <a:fillRect/>
          </a:stretch>
        </p:blipFill>
        <p:spPr>
          <a:xfrm>
            <a:off x="9515246" y="1833372"/>
            <a:ext cx="283464" cy="283464"/>
          </a:xfrm>
          <a:prstGeom prst="rect">
            <a:avLst/>
          </a:prstGeom>
        </p:spPr>
      </p:pic>
      <p:sp>
        <p:nvSpPr>
          <p:cNvPr id="27" name="Text 21"/>
          <p:cNvSpPr txBox="1"/>
          <p:nvPr/>
        </p:nvSpPr>
        <p:spPr>
          <a:xfrm>
            <a:off x="10973714" y="1691640"/>
            <a:ext cx="365760" cy="548640"/>
          </a:xfrm>
          <a:prstGeom prst="rect">
            <a:avLst/>
          </a:prstGeom>
          <a:noFill/>
          <a:ln/>
        </p:spPr>
        <p:txBody>
          <a:bodyPr wrap="square" lIns="0" tIns="0" rIns="0" bIns="0" rtlCol="0" anchor="t"/>
          <a:lstStyle/>
          <a:p>
            <a:pPr algn="r" indent="0" marL="0">
              <a:buNone/>
            </a:pPr>
            <a:r>
              <a:rPr lang="en-US" sz="2800" b="1" dirty="0">
                <a:solidFill>
                  <a:srgbClr val="B8C7E6"/>
                </a:solidFill>
              </a:rPr>
              <a:t>4</a:t>
            </a:r>
            <a:endParaRPr lang="en-US" sz="2800" dirty="0"/>
          </a:p>
        </p:txBody>
      </p:sp>
      <p:sp>
        <p:nvSpPr>
          <p:cNvPr id="28" name="Text 22"/>
          <p:cNvSpPr txBox="1"/>
          <p:nvPr/>
        </p:nvSpPr>
        <p:spPr>
          <a:xfrm>
            <a:off x="9373514" y="2423160"/>
            <a:ext cx="1965960" cy="365760"/>
          </a:xfrm>
          <a:prstGeom prst="rect">
            <a:avLst/>
          </a:prstGeom>
          <a:noFill/>
          <a:ln/>
        </p:spPr>
        <p:txBody>
          <a:bodyPr wrap="square" lIns="0" tIns="0" rIns="0" bIns="0" rtlCol="0" anchor="t"/>
          <a:lstStyle/>
          <a:p>
            <a:pPr indent="0" marL="0">
              <a:buNone/>
            </a:pPr>
            <a:r>
              <a:rPr lang="en-US" sz="1900" b="1" dirty="0">
                <a:solidFill>
                  <a:schemeClr val="tx1"/>
                </a:solidFill>
              </a:rPr>
              <a:t>Hot-swap</a:t>
            </a:r>
            <a:endParaRPr lang="en-US" sz="1900" dirty="0"/>
          </a:p>
        </p:txBody>
      </p:sp>
      <p:sp>
        <p:nvSpPr>
          <p:cNvPr id="29" name="Text 23"/>
          <p:cNvSpPr txBox="1"/>
          <p:nvPr/>
        </p:nvSpPr>
        <p:spPr>
          <a:xfrm>
            <a:off x="9373514" y="2816352"/>
            <a:ext cx="1965960" cy="731520"/>
          </a:xfrm>
          <a:prstGeom prst="rect">
            <a:avLst/>
          </a:prstGeom>
          <a:noFill/>
          <a:ln/>
        </p:spPr>
        <p:txBody>
          <a:bodyPr wrap="square" lIns="0" tIns="0" rIns="0" bIns="0" rtlCol="0" anchor="t"/>
          <a:lstStyle/>
          <a:p>
            <a:pPr indent="0" marL="0">
              <a:buNone/>
            </a:pPr>
            <a:r>
              <a:rPr lang="en-US" sz="1400" dirty="0">
                <a:solidFill>
                  <a:srgbClr val="5A6577"/>
                </a:solidFill>
              </a:rPr>
              <a:t>switch the profile between two frames</a:t>
            </a:r>
            <a:endParaRPr lang="en-US" sz="1400" dirty="0"/>
          </a:p>
        </p:txBody>
      </p:sp>
      <p:sp>
        <p:nvSpPr>
          <p:cNvPr id="30" name="Text 24"/>
          <p:cNvSpPr txBox="1"/>
          <p:nvPr/>
        </p:nvSpPr>
        <p:spPr>
          <a:xfrm>
            <a:off x="548640" y="4023360"/>
            <a:ext cx="10972800" cy="365760"/>
          </a:xfrm>
          <a:prstGeom prst="rect">
            <a:avLst/>
          </a:prstGeom>
          <a:noFill/>
          <a:ln/>
        </p:spPr>
        <p:txBody>
          <a:bodyPr wrap="square" lIns="0" tIns="0" rIns="0" bIns="0" rtlCol="0" anchor="t"/>
          <a:lstStyle/>
          <a:p>
            <a:pPr indent="0" marL="0">
              <a:buNone/>
            </a:pPr>
            <a:r>
              <a:rPr lang="en-US" sz="1700" b="1" dirty="0">
                <a:solidFill>
                  <a:schemeClr val="tx1"/>
                </a:solidFill>
              </a:rPr>
              <a:t>When it's too hot, it cuts what you notice least, first:</a:t>
            </a:r>
            <a:endParaRPr lang="en-US" sz="1700" dirty="0"/>
          </a:p>
        </p:txBody>
      </p:sp>
      <p:sp>
        <p:nvSpPr>
          <p:cNvPr id="31" name="cut order 1"/>
          <p:cNvSpPr/>
          <p:nvPr/>
        </p:nvSpPr>
        <p:spPr>
          <a:xfrm>
            <a:off x="548640" y="4526280"/>
            <a:ext cx="2743200" cy="777240"/>
          </a:xfrm>
          <a:prstGeom prst="chevron">
            <a:avLst/>
          </a:prstGeom>
          <a:solidFill>
            <a:srgbClr val="E7EEFF"/>
          </a:solidFill>
          <a:ln/>
        </p:spPr>
      </p:sp>
      <p:sp>
        <p:nvSpPr>
          <p:cNvPr id="32" name="Text 26"/>
          <p:cNvSpPr txBox="1"/>
          <p:nvPr/>
        </p:nvSpPr>
        <p:spPr>
          <a:xfrm>
            <a:off x="960120" y="4526280"/>
            <a:ext cx="2011680" cy="777240"/>
          </a:xfrm>
          <a:prstGeom prst="rect">
            <a:avLst/>
          </a:prstGeom>
          <a:noFill/>
          <a:ln/>
        </p:spPr>
        <p:txBody>
          <a:bodyPr wrap="square" lIns="0" tIns="0" rIns="0" bIns="0" rtlCol="0" anchor="ctr"/>
          <a:lstStyle/>
          <a:p>
            <a:pPr algn="ctr" indent="0" marL="0">
              <a:buNone/>
            </a:pPr>
            <a:r>
              <a:rPr lang="en-US" sz="1600" b="1" dirty="0">
                <a:solidFill>
                  <a:schemeClr val="tx1"/>
                </a:solidFill>
              </a:rPr>
              <a:t>Screen</a:t>
            </a:r>
            <a:endParaRPr lang="en-US" sz="1600" dirty="0"/>
          </a:p>
          <a:p>
            <a:pPr algn="ctr" indent="0" marL="0">
              <a:buNone/>
            </a:pPr>
            <a:r>
              <a:rPr lang="en-US" sz="1200" dirty="0">
                <a:solidFill>
                  <a:srgbClr val="5A6577"/>
                </a:solidFill>
              </a:rPr>
              <a:t>dims</a:t>
            </a:r>
            <a:endParaRPr lang="en-US" sz="1600" dirty="0"/>
          </a:p>
        </p:txBody>
      </p:sp>
      <p:sp>
        <p:nvSpPr>
          <p:cNvPr id="33" name="cut order 2"/>
          <p:cNvSpPr/>
          <p:nvPr/>
        </p:nvSpPr>
        <p:spPr>
          <a:xfrm>
            <a:off x="3383280" y="4526280"/>
            <a:ext cx="2743200" cy="777240"/>
          </a:xfrm>
          <a:prstGeom prst="chevron">
            <a:avLst/>
          </a:prstGeom>
          <a:solidFill>
            <a:srgbClr val="DCE6FF"/>
          </a:solidFill>
          <a:ln/>
        </p:spPr>
      </p:sp>
      <p:sp>
        <p:nvSpPr>
          <p:cNvPr id="34" name="Text 28"/>
          <p:cNvSpPr txBox="1"/>
          <p:nvPr/>
        </p:nvSpPr>
        <p:spPr>
          <a:xfrm>
            <a:off x="3794760" y="4526280"/>
            <a:ext cx="2011680" cy="777240"/>
          </a:xfrm>
          <a:prstGeom prst="rect">
            <a:avLst/>
          </a:prstGeom>
          <a:noFill/>
          <a:ln/>
        </p:spPr>
        <p:txBody>
          <a:bodyPr wrap="square" lIns="0" tIns="0" rIns="0" bIns="0" rtlCol="0" anchor="ctr"/>
          <a:lstStyle/>
          <a:p>
            <a:pPr algn="ctr" indent="0" marL="0">
              <a:buNone/>
            </a:pPr>
            <a:r>
              <a:rPr lang="en-US" sz="1600" b="1" dirty="0">
                <a:solidFill>
                  <a:schemeClr val="tx1"/>
                </a:solidFill>
              </a:rPr>
              <a:t>Model</a:t>
            </a:r>
            <a:endParaRPr lang="en-US" sz="1600" dirty="0"/>
          </a:p>
          <a:p>
            <a:pPr algn="ctr" indent="0" marL="0">
              <a:buNone/>
            </a:pPr>
            <a:r>
              <a:rPr lang="en-US" sz="1200" dirty="0">
                <a:solidFill>
                  <a:srgbClr val="5A6577"/>
                </a:solidFill>
              </a:rPr>
              <a:t>Lite2 → Lite0</a:t>
            </a:r>
            <a:endParaRPr lang="en-US" sz="1600" dirty="0"/>
          </a:p>
        </p:txBody>
      </p:sp>
      <p:sp>
        <p:nvSpPr>
          <p:cNvPr id="35" name="cut order 3"/>
          <p:cNvSpPr/>
          <p:nvPr/>
        </p:nvSpPr>
        <p:spPr>
          <a:xfrm>
            <a:off x="6217920" y="4526280"/>
            <a:ext cx="2743200" cy="777240"/>
          </a:xfrm>
          <a:prstGeom prst="chevron">
            <a:avLst/>
          </a:prstGeom>
          <a:solidFill>
            <a:srgbClr val="CDDBFF"/>
          </a:solidFill>
          <a:ln/>
        </p:spPr>
      </p:sp>
      <p:sp>
        <p:nvSpPr>
          <p:cNvPr id="36" name="Text 30"/>
          <p:cNvSpPr txBox="1"/>
          <p:nvPr/>
        </p:nvSpPr>
        <p:spPr>
          <a:xfrm>
            <a:off x="6629400" y="4526280"/>
            <a:ext cx="2011680" cy="777240"/>
          </a:xfrm>
          <a:prstGeom prst="rect">
            <a:avLst/>
          </a:prstGeom>
          <a:noFill/>
          <a:ln/>
        </p:spPr>
        <p:txBody>
          <a:bodyPr wrap="square" lIns="0" tIns="0" rIns="0" bIns="0" rtlCol="0" anchor="ctr"/>
          <a:lstStyle/>
          <a:p>
            <a:pPr algn="ctr" indent="0" marL="0">
              <a:buNone/>
            </a:pPr>
            <a:r>
              <a:rPr lang="en-US" sz="1600" b="1" dirty="0">
                <a:solidFill>
                  <a:schemeClr val="tx1"/>
                </a:solidFill>
              </a:rPr>
              <a:t>Camera</a:t>
            </a:r>
            <a:endParaRPr lang="en-US" sz="1600" dirty="0"/>
          </a:p>
          <a:p>
            <a:pPr algn="ctr" indent="0" marL="0">
              <a:buNone/>
            </a:pPr>
            <a:r>
              <a:rPr lang="en-US" sz="1200" dirty="0">
                <a:solidFill>
                  <a:srgbClr val="5A6577"/>
                </a:solidFill>
              </a:rPr>
              <a:t>30 → 10 fps</a:t>
            </a:r>
            <a:endParaRPr lang="en-US" sz="1600" dirty="0"/>
          </a:p>
        </p:txBody>
      </p:sp>
      <p:sp>
        <p:nvSpPr>
          <p:cNvPr id="37" name="cut order 4"/>
          <p:cNvSpPr/>
          <p:nvPr/>
        </p:nvSpPr>
        <p:spPr>
          <a:xfrm>
            <a:off x="9052560" y="4526280"/>
            <a:ext cx="2743200" cy="777240"/>
          </a:xfrm>
          <a:prstGeom prst="chevron">
            <a:avLst/>
          </a:prstGeom>
          <a:solidFill>
            <a:srgbClr val="F0EBFF"/>
          </a:solidFill>
          <a:ln/>
        </p:spPr>
      </p:sp>
      <p:sp>
        <p:nvSpPr>
          <p:cNvPr id="38" name="Text 32"/>
          <p:cNvSpPr txBox="1"/>
          <p:nvPr/>
        </p:nvSpPr>
        <p:spPr>
          <a:xfrm>
            <a:off x="9464040" y="4526280"/>
            <a:ext cx="2011680" cy="777240"/>
          </a:xfrm>
          <a:prstGeom prst="rect">
            <a:avLst/>
          </a:prstGeom>
          <a:noFill/>
          <a:ln/>
        </p:spPr>
        <p:txBody>
          <a:bodyPr wrap="square" lIns="0" tIns="0" rIns="0" bIns="0" rtlCol="0" anchor="ctr"/>
          <a:lstStyle/>
          <a:p>
            <a:pPr algn="ctr" indent="0" marL="0">
              <a:buNone/>
            </a:pPr>
            <a:r>
              <a:rPr lang="en-US" sz="1600" b="1" dirty="0">
                <a:solidFill>
                  <a:schemeClr val="tx1"/>
                </a:solidFill>
              </a:rPr>
              <a:t>Voice</a:t>
            </a:r>
            <a:endParaRPr lang="en-US" sz="1600" dirty="0"/>
          </a:p>
          <a:p>
            <a:pPr algn="ctr" indent="0" marL="0">
              <a:buNone/>
            </a:pPr>
            <a:r>
              <a:rPr lang="en-US" sz="1200" dirty="0">
                <a:solidFill>
                  <a:srgbClr val="5A6577"/>
                </a:solidFill>
              </a:rPr>
              <a:t>last</a:t>
            </a:r>
            <a:endParaRPr lang="en-US" sz="1600" dirty="0"/>
          </a:p>
        </p:txBody>
      </p:sp>
      <p:sp>
        <p:nvSpPr>
          <p:cNvPr id="39" name="Text 33"/>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500" dirty="0">
                <a:solidFill>
                  <a:srgbClr val="5A6577"/>
                </a:solidFill>
              </a:rPr>
              <a:t>Cools down → waits 5 s → steps back up, so nothing flickers. Fully automatic: the user just sees the AI working.</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Two things that make it work on a real phone</a:t>
            </a:r>
            <a:endParaRPr lang="en-US" sz="3200" dirty="0"/>
          </a:p>
        </p:txBody>
      </p:sp>
      <p:sp>
        <p:nvSpPr>
          <p:cNvPr id="3" name="highlight 1"/>
          <p:cNvSpPr/>
          <p:nvPr/>
        </p:nvSpPr>
        <p:spPr>
          <a:xfrm>
            <a:off x="548640" y="1417320"/>
            <a:ext cx="5394960" cy="4526280"/>
          </a:xfrm>
          <a:prstGeom prst="roundRect">
            <a:avLst>
              <a:gd name="adj" fmla="val 2424"/>
            </a:avLst>
          </a:prstGeom>
          <a:solidFill>
            <a:schemeClr val="bg2"/>
          </a:solidFill>
          <a:ln/>
        </p:spPr>
      </p:sp>
      <p:sp>
        <p:nvSpPr>
          <p:cNvPr id="4" name="icon circle"/>
          <p:cNvSpPr/>
          <p:nvPr/>
        </p:nvSpPr>
        <p:spPr>
          <a:xfrm>
            <a:off x="960120" y="1737360"/>
            <a:ext cx="685800" cy="685800"/>
          </a:xfrm>
          <a:prstGeom prst="ellipse">
            <a:avLst/>
          </a:prstGeom>
          <a:solidFill>
            <a:srgbClr val="1A5CFF"/>
          </a:solidFill>
          <a:ln/>
        </p:spPr>
      </p:sp>
      <p:pic>
        <p:nvPicPr>
          <p:cNvPr id="5" name="icon FaBolt" descr="preencoded.png">    </p:cNvPr>
          <p:cNvPicPr>
            <a:picLocks noChangeAspect="1"/>
          </p:cNvPicPr>
          <p:nvPr/>
        </p:nvPicPr>
        <p:blipFill>
          <a:blip r:embed="rId1"/>
          <a:stretch>
            <a:fillRect/>
          </a:stretch>
        </p:blipFill>
        <p:spPr>
          <a:xfrm>
            <a:off x="1131570" y="1908810"/>
            <a:ext cx="342900" cy="342900"/>
          </a:xfrm>
          <a:prstGeom prst="rect">
            <a:avLst/>
          </a:prstGeom>
        </p:spPr>
      </p:pic>
      <p:sp>
        <p:nvSpPr>
          <p:cNvPr id="6" name="Text 3"/>
          <p:cNvSpPr txBox="1"/>
          <p:nvPr/>
        </p:nvSpPr>
        <p:spPr>
          <a:xfrm>
            <a:off x="960120" y="2606040"/>
            <a:ext cx="4572000" cy="100584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≈0.01 ms</a:t>
            </a:r>
            <a:endParaRPr lang="en-US" sz="5400" dirty="0"/>
          </a:p>
        </p:txBody>
      </p:sp>
      <p:sp>
        <p:nvSpPr>
          <p:cNvPr id="7" name="Text 4"/>
          <p:cNvSpPr txBox="1"/>
          <p:nvPr/>
        </p:nvSpPr>
        <p:spPr>
          <a:xfrm>
            <a:off x="960120" y="3611880"/>
            <a:ext cx="4572000" cy="411480"/>
          </a:xfrm>
          <a:prstGeom prst="rect">
            <a:avLst/>
          </a:prstGeom>
          <a:noFill/>
          <a:ln/>
        </p:spPr>
        <p:txBody>
          <a:bodyPr wrap="square" lIns="0" tIns="0" rIns="0" bIns="0" rtlCol="0" anchor="t"/>
          <a:lstStyle/>
          <a:p>
            <a:pPr indent="0" marL="0">
              <a:buNone/>
            </a:pPr>
            <a:r>
              <a:rPr lang="en-US" sz="2000" b="1" dirty="0">
                <a:solidFill>
                  <a:schemeClr val="tx1"/>
                </a:solidFill>
              </a:rPr>
              <a:t>hot-swap</a:t>
            </a:r>
            <a:endParaRPr lang="en-US" sz="2000" dirty="0"/>
          </a:p>
        </p:txBody>
      </p:sp>
      <p:sp>
        <p:nvSpPr>
          <p:cNvPr id="8" name="Text 5"/>
          <p:cNvSpPr txBox="1"/>
          <p:nvPr/>
        </p:nvSpPr>
        <p:spPr>
          <a:xfrm>
            <a:off x="960120" y="4114800"/>
            <a:ext cx="4572000" cy="1645920"/>
          </a:xfrm>
          <a:prstGeom prst="rect">
            <a:avLst/>
          </a:prstGeom>
          <a:noFill/>
          <a:ln/>
        </p:spPr>
        <p:txBody>
          <a:bodyPr wrap="square" lIns="0" tIns="0" rIns="0" bIns="0" rtlCol="0" anchor="t"/>
          <a:lstStyle/>
          <a:p>
            <a:pPr indent="0" marL="0">
              <a:buNone/>
            </a:pPr>
            <a:r>
              <a:rPr lang="en-US" sz="1500" dirty="0">
                <a:solidFill>
                  <a:srgbClr val="5A6577"/>
                </a:solidFill>
              </a:rPr>
              <a:t>The Weaver builds the new model in the background, then swaps it between two frames. The AI never stops and the user never sees a pause. Measured: build 309 ms, swap 0.017 ms.</a:t>
            </a:r>
            <a:endParaRPr lang="en-US" sz="1500" dirty="0"/>
          </a:p>
        </p:txBody>
      </p:sp>
      <p:sp>
        <p:nvSpPr>
          <p:cNvPr id="9" name="highlight 2"/>
          <p:cNvSpPr/>
          <p:nvPr/>
        </p:nvSpPr>
        <p:spPr>
          <a:xfrm>
            <a:off x="6217920" y="1417320"/>
            <a:ext cx="5394960" cy="4526280"/>
          </a:xfrm>
          <a:prstGeom prst="roundRect">
            <a:avLst>
              <a:gd name="adj" fmla="val 2424"/>
            </a:avLst>
          </a:prstGeom>
          <a:solidFill>
            <a:schemeClr val="bg2"/>
          </a:solidFill>
          <a:ln/>
        </p:spPr>
      </p:sp>
      <p:sp>
        <p:nvSpPr>
          <p:cNvPr id="10" name="icon circle"/>
          <p:cNvSpPr/>
          <p:nvPr/>
        </p:nvSpPr>
        <p:spPr>
          <a:xfrm>
            <a:off x="6629400" y="1737360"/>
            <a:ext cx="685800" cy="685800"/>
          </a:xfrm>
          <a:prstGeom prst="ellipse">
            <a:avLst/>
          </a:prstGeom>
          <a:solidFill>
            <a:srgbClr val="14915F"/>
          </a:solidFill>
          <a:ln/>
        </p:spPr>
      </p:sp>
      <p:pic>
        <p:nvPicPr>
          <p:cNvPr id="11" name="icon FaCamera" descr="preencoded.png">    </p:cNvPr>
          <p:cNvPicPr>
            <a:picLocks noChangeAspect="1"/>
          </p:cNvPicPr>
          <p:nvPr/>
        </p:nvPicPr>
        <p:blipFill>
          <a:blip r:embed="rId2"/>
          <a:stretch>
            <a:fillRect/>
          </a:stretch>
        </p:blipFill>
        <p:spPr>
          <a:xfrm>
            <a:off x="6800850" y="1908810"/>
            <a:ext cx="342900" cy="342900"/>
          </a:xfrm>
          <a:prstGeom prst="rect">
            <a:avLst/>
          </a:prstGeom>
        </p:spPr>
      </p:pic>
      <p:sp>
        <p:nvSpPr>
          <p:cNvPr id="12" name="Text 8"/>
          <p:cNvSpPr txBox="1"/>
          <p:nvPr/>
        </p:nvSpPr>
        <p:spPr>
          <a:xfrm>
            <a:off x="6629400" y="2606040"/>
            <a:ext cx="4572000" cy="100584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30 → 10 fps</a:t>
            </a:r>
            <a:endParaRPr lang="en-US" sz="5400" dirty="0"/>
          </a:p>
        </p:txBody>
      </p:sp>
      <p:sp>
        <p:nvSpPr>
          <p:cNvPr id="13" name="Text 9"/>
          <p:cNvSpPr txBox="1"/>
          <p:nvPr/>
        </p:nvSpPr>
        <p:spPr>
          <a:xfrm>
            <a:off x="6629400" y="3611880"/>
            <a:ext cx="4572000" cy="411480"/>
          </a:xfrm>
          <a:prstGeom prst="rect">
            <a:avLst/>
          </a:prstGeom>
          <a:noFill/>
          <a:ln/>
        </p:spPr>
        <p:txBody>
          <a:bodyPr wrap="square" lIns="0" tIns="0" rIns="0" bIns="0" rtlCol="0" anchor="t"/>
          <a:lstStyle/>
          <a:p>
            <a:pPr indent="0" marL="0">
              <a:buNone/>
            </a:pPr>
            <a:r>
              <a:rPr lang="en-US" sz="2000" b="1" dirty="0">
                <a:solidFill>
                  <a:schemeClr val="tx1"/>
                </a:solidFill>
              </a:rPr>
              <a:t>at the camera sensor</a:t>
            </a:r>
            <a:endParaRPr lang="en-US" sz="2000" dirty="0"/>
          </a:p>
        </p:txBody>
      </p:sp>
      <p:sp>
        <p:nvSpPr>
          <p:cNvPr id="14" name="Text 10"/>
          <p:cNvSpPr txBox="1"/>
          <p:nvPr/>
        </p:nvSpPr>
        <p:spPr>
          <a:xfrm>
            <a:off x="6629400" y="4114800"/>
            <a:ext cx="4572000" cy="1645920"/>
          </a:xfrm>
          <a:prstGeom prst="rect">
            <a:avLst/>
          </a:prstGeom>
          <a:noFill/>
          <a:ln/>
        </p:spPr>
        <p:txBody>
          <a:bodyPr wrap="square" lIns="0" tIns="0" rIns="0" bIns="0" rtlCol="0" anchor="t"/>
          <a:lstStyle/>
          <a:p>
            <a:pPr indent="0" marL="0">
              <a:buNone/>
            </a:pPr>
            <a:r>
              <a:rPr lang="en-US" sz="1500" dirty="0">
                <a:solidFill>
                  <a:srgbClr val="5A6577"/>
                </a:solidFill>
              </a:rPr>
              <a:t>Most apps just skip frames, but the camera still captures them and burns power. LOOM tells the iQOO's camera hardware itself to capture fewer frames, through Android's Camera2 controls. Power is saved at the source.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Architecture: plan offline, run on the phone, watch live</a:t>
            </a:r>
            <a:endParaRPr lang="en-US" sz="3200" dirty="0"/>
          </a:p>
        </p:txBody>
      </p:sp>
      <p:pic>
        <p:nvPicPr>
          <p:cNvPr id="3" name="architecture diagram" descr="loom_architecture.png">    </p:cNvPr>
          <p:cNvPicPr>
            <a:picLocks noChangeAspect="1"/>
          </p:cNvPicPr>
          <p:nvPr/>
        </p:nvPicPr>
        <p:blipFill>
          <a:blip r:embed="rId1"/>
          <a:stretch>
            <a:fillRect/>
          </a:stretch>
        </p:blipFill>
        <p:spPr>
          <a:xfrm>
            <a:off x="2193882" y="1188720"/>
            <a:ext cx="7803931" cy="5029200"/>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Live demo: watch the Weaver work</a:t>
            </a:r>
            <a:endParaRPr lang="en-US" sz="3200" dirty="0"/>
          </a:p>
        </p:txBody>
      </p:sp>
      <p:sp>
        <p:nvSpPr>
          <p:cNvPr id="3" name="screenshot frame"/>
          <p:cNvSpPr/>
          <p:nvPr/>
        </p:nvSpPr>
        <p:spPr>
          <a:xfrm>
            <a:off x="548640" y="1371600"/>
            <a:ext cx="7589520" cy="3261265"/>
          </a:xfrm>
          <a:prstGeom prst="roundRect">
            <a:avLst>
              <a:gd name="adj" fmla="val 2804"/>
            </a:avLst>
          </a:prstGeom>
          <a:solidFill>
            <a:schemeClr val="bg2"/>
          </a:solidFill>
          <a:ln w="12700">
            <a:solidFill>
              <a:srgbClr val="D5DCE8"/>
            </a:solidFill>
            <a:prstDash val="solid"/>
          </a:ln>
        </p:spPr>
      </p:sp>
      <p:pic>
        <p:nvPicPr>
          <p:cNvPr id="4" name="dashboard screenshot" descr="dash_crop.png">    </p:cNvPr>
          <p:cNvPicPr>
            <a:picLocks noChangeAspect="1"/>
          </p:cNvPicPr>
          <p:nvPr/>
        </p:nvPicPr>
        <p:blipFill>
          <a:blip r:embed="rId1"/>
          <a:stretch>
            <a:fillRect/>
          </a:stretch>
        </p:blipFill>
        <p:spPr>
          <a:xfrm>
            <a:off x="640080" y="1463040"/>
            <a:ext cx="7406640" cy="3078385"/>
          </a:xfrm>
          <a:prstGeom prst="rect">
            <a:avLst/>
          </a:prstGeom>
        </p:spPr>
      </p:pic>
      <p:sp>
        <p:nvSpPr>
          <p:cNvPr id="5" name="Text 2"/>
          <p:cNvSpPr txBox="1"/>
          <p:nvPr/>
        </p:nvSpPr>
        <p:spPr>
          <a:xfrm>
            <a:off x="548640" y="4770025"/>
            <a:ext cx="7406640" cy="274320"/>
          </a:xfrm>
          <a:prstGeom prst="rect">
            <a:avLst/>
          </a:prstGeom>
          <a:noFill/>
          <a:ln/>
        </p:spPr>
        <p:txBody>
          <a:bodyPr wrap="square" lIns="0" tIns="0" rIns="0" bIns="0" rtlCol="0" anchor="t"/>
          <a:lstStyle/>
          <a:p>
            <a:pPr indent="0" marL="0">
              <a:buNone/>
            </a:pPr>
            <a:r>
              <a:rPr lang="en-US" sz="1100" i="1" dirty="0">
                <a:solidFill>
                  <a:srgbClr val="5A6577"/>
                </a:solidFill>
              </a:rPr>
              <a:t>Laptop dashboard, connected to the phone over Wi-Fi (rehearsal replay shown)</a:t>
            </a:r>
            <a:endParaRPr lang="en-US" sz="1100" dirty="0"/>
          </a:p>
        </p:txBody>
      </p:sp>
      <p:sp>
        <p:nvSpPr>
          <p:cNvPr id="6" name="step number"/>
          <p:cNvSpPr/>
          <p:nvPr/>
        </p:nvSpPr>
        <p:spPr>
          <a:xfrm>
            <a:off x="8503920" y="1371600"/>
            <a:ext cx="457200" cy="457200"/>
          </a:xfrm>
          <a:prstGeom prst="ellipse">
            <a:avLst/>
          </a:prstGeom>
          <a:solidFill>
            <a:schemeClr val="accent1"/>
          </a:solidFill>
          <a:ln/>
        </p:spPr>
      </p:sp>
      <p:sp>
        <p:nvSpPr>
          <p:cNvPr id="7" name="Text 4"/>
          <p:cNvSpPr txBox="1"/>
          <p:nvPr/>
        </p:nvSpPr>
        <p:spPr>
          <a:xfrm>
            <a:off x="850392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9098280" y="1353312"/>
            <a:ext cx="2560320" cy="347472"/>
          </a:xfrm>
          <a:prstGeom prst="rect">
            <a:avLst/>
          </a:prstGeom>
          <a:noFill/>
          <a:ln/>
        </p:spPr>
        <p:txBody>
          <a:bodyPr wrap="square" lIns="0" tIns="0" rIns="0" bIns="0" rtlCol="0" anchor="t"/>
          <a:lstStyle/>
          <a:p>
            <a:pPr indent="0" marL="0">
              <a:buNone/>
            </a:pPr>
            <a:r>
              <a:rPr lang="en-US" sz="1600" b="1" dirty="0">
                <a:solidFill>
                  <a:schemeClr val="tx1"/>
                </a:solidFill>
              </a:rPr>
              <a:t>Open LOOM</a:t>
            </a:r>
            <a:endParaRPr lang="en-US" sz="1600" dirty="0"/>
          </a:p>
        </p:txBody>
      </p:sp>
      <p:sp>
        <p:nvSpPr>
          <p:cNvPr id="9" name="Text 6"/>
          <p:cNvSpPr txBox="1"/>
          <p:nvPr/>
        </p:nvSpPr>
        <p:spPr>
          <a:xfrm>
            <a:off x="9098280" y="1700784"/>
            <a:ext cx="2560320" cy="640080"/>
          </a:xfrm>
          <a:prstGeom prst="rect">
            <a:avLst/>
          </a:prstGeom>
          <a:noFill/>
          <a:ln/>
        </p:spPr>
        <p:txBody>
          <a:bodyPr wrap="square" lIns="0" tIns="0" rIns="0" bIns="0" rtlCol="0" anchor="t"/>
          <a:lstStyle/>
          <a:p>
            <a:pPr indent="0" marL="0">
              <a:buNone/>
            </a:pPr>
            <a:r>
              <a:rPr lang="en-US" sz="1300" dirty="0">
                <a:solidFill>
                  <a:srgbClr val="5A6577"/>
                </a:solidFill>
              </a:rPr>
              <a:t>phone shows only the camera and detections</a:t>
            </a:r>
            <a:endParaRPr lang="en-US" sz="1300" dirty="0"/>
          </a:p>
        </p:txBody>
      </p:sp>
      <p:sp>
        <p:nvSpPr>
          <p:cNvPr id="10" name="step number"/>
          <p:cNvSpPr/>
          <p:nvPr/>
        </p:nvSpPr>
        <p:spPr>
          <a:xfrm>
            <a:off x="8503920" y="2487168"/>
            <a:ext cx="457200" cy="457200"/>
          </a:xfrm>
          <a:prstGeom prst="ellipse">
            <a:avLst/>
          </a:prstGeom>
          <a:solidFill>
            <a:schemeClr val="accent1"/>
          </a:solidFill>
          <a:ln/>
        </p:spPr>
      </p:sp>
      <p:sp>
        <p:nvSpPr>
          <p:cNvPr id="11" name="Text 8"/>
          <p:cNvSpPr txBox="1"/>
          <p:nvPr/>
        </p:nvSpPr>
        <p:spPr>
          <a:xfrm>
            <a:off x="8503920" y="24871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9098280" y="2468880"/>
            <a:ext cx="2560320" cy="347472"/>
          </a:xfrm>
          <a:prstGeom prst="rect">
            <a:avLst/>
          </a:prstGeom>
          <a:noFill/>
          <a:ln/>
        </p:spPr>
        <p:txBody>
          <a:bodyPr wrap="square" lIns="0" tIns="0" rIns="0" bIns="0" rtlCol="0" anchor="t"/>
          <a:lstStyle/>
          <a:p>
            <a:pPr indent="0" marL="0">
              <a:buNone/>
            </a:pPr>
            <a:r>
              <a:rPr lang="en-US" sz="1600" b="1" dirty="0">
                <a:solidFill>
                  <a:schemeClr val="tx1"/>
                </a:solidFill>
              </a:rPr>
              <a:t>Press Stress → GPU</a:t>
            </a:r>
            <a:endParaRPr lang="en-US" sz="1600" dirty="0"/>
          </a:p>
        </p:txBody>
      </p:sp>
      <p:sp>
        <p:nvSpPr>
          <p:cNvPr id="13" name="Text 10"/>
          <p:cNvSpPr txBox="1"/>
          <p:nvPr/>
        </p:nvSpPr>
        <p:spPr>
          <a:xfrm>
            <a:off x="9098280" y="2816352"/>
            <a:ext cx="2560320" cy="640080"/>
          </a:xfrm>
          <a:prstGeom prst="rect">
            <a:avLst/>
          </a:prstGeom>
          <a:noFill/>
          <a:ln/>
        </p:spPr>
        <p:txBody>
          <a:bodyPr wrap="square" lIns="0" tIns="0" rIns="0" bIns="0" rtlCol="0" anchor="t"/>
          <a:lstStyle/>
          <a:p>
            <a:pPr indent="0" marL="0">
              <a:buNone/>
            </a:pPr>
            <a:r>
              <a:rPr lang="en-US" sz="1300" dirty="0">
                <a:solidFill>
                  <a:srgbClr val="5A6577"/>
                </a:solidFill>
              </a:rPr>
              <a:t>we heat the phone on purpose</a:t>
            </a:r>
            <a:endParaRPr lang="en-US" sz="1300" dirty="0"/>
          </a:p>
        </p:txBody>
      </p:sp>
      <p:sp>
        <p:nvSpPr>
          <p:cNvPr id="14" name="step number"/>
          <p:cNvSpPr/>
          <p:nvPr/>
        </p:nvSpPr>
        <p:spPr>
          <a:xfrm>
            <a:off x="8503920" y="3602736"/>
            <a:ext cx="457200" cy="457200"/>
          </a:xfrm>
          <a:prstGeom prst="ellipse">
            <a:avLst/>
          </a:prstGeom>
          <a:solidFill>
            <a:schemeClr val="accent1"/>
          </a:solidFill>
          <a:ln/>
        </p:spPr>
      </p:sp>
      <p:sp>
        <p:nvSpPr>
          <p:cNvPr id="15" name="Text 12"/>
          <p:cNvSpPr txBox="1"/>
          <p:nvPr/>
        </p:nvSpPr>
        <p:spPr>
          <a:xfrm>
            <a:off x="8503920" y="3602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9098280" y="3584448"/>
            <a:ext cx="2560320" cy="347472"/>
          </a:xfrm>
          <a:prstGeom prst="rect">
            <a:avLst/>
          </a:prstGeom>
          <a:noFill/>
          <a:ln/>
        </p:spPr>
        <p:txBody>
          <a:bodyPr wrap="square" lIns="0" tIns="0" rIns="0" bIns="0" rtlCol="0" anchor="t"/>
          <a:lstStyle/>
          <a:p>
            <a:pPr indent="0" marL="0">
              <a:buNone/>
            </a:pPr>
            <a:r>
              <a:rPr lang="en-US" sz="1600" b="1" dirty="0">
                <a:solidFill>
                  <a:schemeClr val="tx1"/>
                </a:solidFill>
              </a:rPr>
              <a:t>Heat crosses 0.80</a:t>
            </a:r>
            <a:endParaRPr lang="en-US" sz="1600" dirty="0"/>
          </a:p>
        </p:txBody>
      </p:sp>
      <p:sp>
        <p:nvSpPr>
          <p:cNvPr id="17" name="Text 14"/>
          <p:cNvSpPr txBox="1"/>
          <p:nvPr/>
        </p:nvSpPr>
        <p:spPr>
          <a:xfrm>
            <a:off x="9098280" y="3931920"/>
            <a:ext cx="2560320" cy="640080"/>
          </a:xfrm>
          <a:prstGeom prst="rect">
            <a:avLst/>
          </a:prstGeom>
          <a:noFill/>
          <a:ln/>
        </p:spPr>
        <p:txBody>
          <a:bodyPr wrap="square" lIns="0" tIns="0" rIns="0" bIns="0" rtlCol="0" anchor="t"/>
          <a:lstStyle/>
          <a:p>
            <a:pPr indent="0" marL="0">
              <a:buNone/>
            </a:pPr>
            <a:r>
              <a:rPr lang="en-US" sz="1300" dirty="0">
                <a:solidFill>
                  <a:srgbClr val="5A6577"/>
                </a:solidFill>
              </a:rPr>
              <a:t>screen dims, model shrinks, camera slows</a:t>
            </a:r>
            <a:endParaRPr lang="en-US" sz="1300" dirty="0"/>
          </a:p>
        </p:txBody>
      </p:sp>
      <p:sp>
        <p:nvSpPr>
          <p:cNvPr id="18" name="step number"/>
          <p:cNvSpPr/>
          <p:nvPr/>
        </p:nvSpPr>
        <p:spPr>
          <a:xfrm>
            <a:off x="8503920" y="4718304"/>
            <a:ext cx="457200" cy="457200"/>
          </a:xfrm>
          <a:prstGeom prst="ellipse">
            <a:avLst/>
          </a:prstGeom>
          <a:solidFill>
            <a:schemeClr val="accent1"/>
          </a:solidFill>
          <a:ln/>
        </p:spPr>
      </p:sp>
      <p:sp>
        <p:nvSpPr>
          <p:cNvPr id="19" name="Text 16"/>
          <p:cNvSpPr txBox="1"/>
          <p:nvPr/>
        </p:nvSpPr>
        <p:spPr>
          <a:xfrm>
            <a:off x="8503920" y="4718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9098280" y="4700016"/>
            <a:ext cx="2560320" cy="347472"/>
          </a:xfrm>
          <a:prstGeom prst="rect">
            <a:avLst/>
          </a:prstGeom>
          <a:noFill/>
          <a:ln/>
        </p:spPr>
        <p:txBody>
          <a:bodyPr wrap="square" lIns="0" tIns="0" rIns="0" bIns="0" rtlCol="0" anchor="t"/>
          <a:lstStyle/>
          <a:p>
            <a:pPr indent="0" marL="0">
              <a:buNone/>
            </a:pPr>
            <a:r>
              <a:rPr lang="en-US" sz="1600" b="1" dirty="0">
                <a:solidFill>
                  <a:schemeClr val="tx1"/>
                </a:solidFill>
              </a:rPr>
              <a:t>Detection keeps going</a:t>
            </a:r>
            <a:endParaRPr lang="en-US" sz="1600" dirty="0"/>
          </a:p>
        </p:txBody>
      </p:sp>
      <p:sp>
        <p:nvSpPr>
          <p:cNvPr id="21" name="Text 18"/>
          <p:cNvSpPr txBox="1"/>
          <p:nvPr/>
        </p:nvSpPr>
        <p:spPr>
          <a:xfrm>
            <a:off x="9098280" y="5047488"/>
            <a:ext cx="2560320" cy="640080"/>
          </a:xfrm>
          <a:prstGeom prst="rect">
            <a:avLst/>
          </a:prstGeom>
          <a:noFill/>
          <a:ln/>
        </p:spPr>
        <p:txBody>
          <a:bodyPr wrap="square" lIns="0" tIns="0" rIns="0" bIns="0" rtlCol="0" anchor="t"/>
          <a:lstStyle/>
          <a:p>
            <a:pPr indent="0" marL="0">
              <a:buNone/>
            </a:pPr>
            <a:r>
              <a:rPr lang="en-US" sz="1300" dirty="0">
                <a:solidFill>
                  <a:srgbClr val="5A6577"/>
                </a:solidFill>
              </a:rPr>
              <a:t>every change is logged with its reason</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proof: same phone, same job, 44% less battery</a:t>
            </a:r>
            <a:endParaRPr lang="en-US" sz="3200" dirty="0"/>
          </a:p>
        </p:txBody>
      </p:sp>
      <p:graphicFrame>
        <p:nvGraphicFramePr>
          <p:cNvPr id="3" name="battery chart" descr=""/>
          <p:cNvGraphicFramePr/>
          <p:nvPr/>
        </p:nvGraphicFramePr>
        <p:xfrm>
          <a:off x="548640" y="1325880"/>
          <a:ext cx="49377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920240"/>
                <a:gridCol w="1920240"/>
                <a:gridCol w="1920240"/>
              </a:tblGrid>
              <a:tr h="475488">
                <a:tc>
                  <a:txBody>
                    <a:bodyPr/>
                    <a:lstStyle/>
                    <a:p>
                      <a:pPr indent="0" marL="0">
                        <a:buNone/>
                      </a:pP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Ordinary app (fixed)</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LOOM (adaptive)</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Heat</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0.61 → 0.98</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0.84 → 0.85, flat</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Battery (median)</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1,048 mA</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586 mA (−44%)</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Speed</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18.7 → 12 FPS, falling</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steady 10 FPS</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Android thermal status</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MODERATE</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LIGHT</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Detection confidence</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0.55</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0.53</a:t>
                      </a:r>
                      <a:endParaRPr lang="en-US" sz="1400" dirty="0"/>
                    </a:p>
                  </a:txBody>
                  <a:tcPr marL="109728" marR="109728"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852160" y="4572000"/>
            <a:ext cx="5760720" cy="731520"/>
          </a:xfrm>
          <a:prstGeom prst="rect">
            <a:avLst/>
          </a:prstGeom>
          <a:noFill/>
          <a:ln/>
        </p:spPr>
        <p:txBody>
          <a:bodyPr wrap="square" lIns="0" tIns="0" rIns="0" bIns="0" rtlCol="0" anchor="t"/>
          <a:lstStyle/>
          <a:p>
            <a:pPr indent="0" marL="0">
              <a:buNone/>
            </a:pPr>
            <a:r>
              <a:rPr lang="en-US" sz="1200" i="1" dirty="0">
                <a:solidFill>
                  <a:srgbClr val="5A6577"/>
                </a:solidFill>
              </a:rPr>
              <a:t>The two runs started at different heat; a cool-start rerun is planned. Numbers are from the camera demo; the method applies to any model.</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quantum planner: plan 3 minutes ahead</a:t>
            </a:r>
            <a:endParaRPr lang="en-US" sz="3200" dirty="0"/>
          </a:p>
        </p:txBody>
      </p:sp>
      <p:sp>
        <p:nvSpPr>
          <p:cNvPr id="3" name="quantum step 1"/>
          <p:cNvSpPr/>
          <p:nvPr/>
        </p:nvSpPr>
        <p:spPr>
          <a:xfrm>
            <a:off x="548640" y="1325880"/>
            <a:ext cx="2029968" cy="1965960"/>
          </a:xfrm>
          <a:prstGeom prst="roundRect">
            <a:avLst>
              <a:gd name="adj" fmla="val 5581"/>
            </a:avLst>
          </a:prstGeom>
          <a:solidFill>
            <a:srgbClr val="F3F0FF"/>
          </a:solidFill>
          <a:ln/>
        </p:spPr>
      </p:sp>
      <p:sp>
        <p:nvSpPr>
          <p:cNvPr id="4" name="icon circle"/>
          <p:cNvSpPr/>
          <p:nvPr/>
        </p:nvSpPr>
        <p:spPr>
          <a:xfrm>
            <a:off x="777240" y="1554480"/>
            <a:ext cx="502920" cy="502920"/>
          </a:xfrm>
          <a:prstGeom prst="ellipse">
            <a:avLst/>
          </a:prstGeom>
          <a:solidFill>
            <a:srgbClr val="6B4FD8"/>
          </a:solidFill>
          <a:ln/>
        </p:spPr>
      </p:sp>
      <p:pic>
        <p:nvPicPr>
          <p:cNvPr id="5" name="icon FaFlask" descr="preencoded.png">    </p:cNvPr>
          <p:cNvPicPr>
            <a:picLocks noChangeAspect="1"/>
          </p:cNvPicPr>
          <p:nvPr/>
        </p:nvPicPr>
        <p:blipFill>
          <a:blip r:embed="rId1"/>
          <a:stretch>
            <a:fillRect/>
          </a:stretch>
        </p:blipFill>
        <p:spPr>
          <a:xfrm>
            <a:off x="902970" y="1680210"/>
            <a:ext cx="251460" cy="251460"/>
          </a:xfrm>
          <a:prstGeom prst="rect">
            <a:avLst/>
          </a:prstGeom>
        </p:spPr>
      </p:pic>
      <p:sp>
        <p:nvSpPr>
          <p:cNvPr id="6" name="Text 3"/>
          <p:cNvSpPr txBox="1"/>
          <p:nvPr/>
        </p:nvSpPr>
        <p:spPr>
          <a:xfrm>
            <a:off x="777240" y="2176272"/>
            <a:ext cx="1618488" cy="347472"/>
          </a:xfrm>
          <a:prstGeom prst="rect">
            <a:avLst/>
          </a:prstGeom>
          <a:noFill/>
          <a:ln/>
        </p:spPr>
        <p:txBody>
          <a:bodyPr wrap="square" lIns="0" tIns="0" rIns="0" bIns="0" rtlCol="0" anchor="t"/>
          <a:lstStyle/>
          <a:p>
            <a:pPr indent="0" marL="0">
              <a:buNone/>
            </a:pPr>
            <a:r>
              <a:rPr lang="en-US" sz="1700" b="1" dirty="0">
                <a:solidFill>
                  <a:schemeClr val="tx1"/>
                </a:solidFill>
              </a:rPr>
              <a:t>Measure</a:t>
            </a:r>
            <a:endParaRPr lang="en-US" sz="1700" dirty="0"/>
          </a:p>
        </p:txBody>
      </p:sp>
      <p:sp>
        <p:nvSpPr>
          <p:cNvPr id="7" name="Text 4"/>
          <p:cNvSpPr txBox="1"/>
          <p:nvPr/>
        </p:nvSpPr>
        <p:spPr>
          <a:xfrm>
            <a:off x="777240" y="2542032"/>
            <a:ext cx="1618488" cy="640080"/>
          </a:xfrm>
          <a:prstGeom prst="rect">
            <a:avLst/>
          </a:prstGeom>
          <a:noFill/>
          <a:ln/>
        </p:spPr>
        <p:txBody>
          <a:bodyPr wrap="square" lIns="0" tIns="0" rIns="0" bIns="0" rtlCol="0" anchor="t"/>
          <a:lstStyle/>
          <a:p>
            <a:pPr indent="0" marL="0">
              <a:buNone/>
            </a:pPr>
            <a:r>
              <a:rPr lang="en-US" sz="1300" dirty="0">
                <a:solidFill>
                  <a:srgbClr val="5A6577"/>
                </a:solidFill>
              </a:rPr>
              <a:t>real heat + battery on the iQOO 15</a:t>
            </a:r>
            <a:endParaRPr lang="en-US" sz="1300" dirty="0"/>
          </a:p>
        </p:txBody>
      </p:sp>
      <p:sp>
        <p:nvSpPr>
          <p:cNvPr id="8" name="flow arrow"/>
          <p:cNvSpPr/>
          <p:nvPr/>
        </p:nvSpPr>
        <p:spPr>
          <a:xfrm rot="5400000">
            <a:off x="2642616" y="2212848"/>
            <a:ext cx="100584" cy="182880"/>
          </a:xfrm>
          <a:prstGeom prst="rtTriangle">
            <a:avLst/>
          </a:prstGeom>
          <a:solidFill>
            <a:srgbClr val="C9BDF5"/>
          </a:solidFill>
          <a:ln/>
        </p:spPr>
      </p:sp>
      <p:sp>
        <p:nvSpPr>
          <p:cNvPr id="9" name="quantum step 2"/>
          <p:cNvSpPr/>
          <p:nvPr/>
        </p:nvSpPr>
        <p:spPr>
          <a:xfrm>
            <a:off x="2807208" y="1325880"/>
            <a:ext cx="2029968" cy="1965960"/>
          </a:xfrm>
          <a:prstGeom prst="roundRect">
            <a:avLst>
              <a:gd name="adj" fmla="val 5581"/>
            </a:avLst>
          </a:prstGeom>
          <a:solidFill>
            <a:srgbClr val="F3F0FF"/>
          </a:solidFill>
          <a:ln/>
        </p:spPr>
      </p:sp>
      <p:sp>
        <p:nvSpPr>
          <p:cNvPr id="10" name="icon circle"/>
          <p:cNvSpPr/>
          <p:nvPr/>
        </p:nvSpPr>
        <p:spPr>
          <a:xfrm>
            <a:off x="3035808" y="1554480"/>
            <a:ext cx="502920" cy="502920"/>
          </a:xfrm>
          <a:prstGeom prst="ellipse">
            <a:avLst/>
          </a:prstGeom>
          <a:solidFill>
            <a:srgbClr val="6B4FD8"/>
          </a:solidFill>
          <a:ln/>
        </p:spPr>
      </p:sp>
      <p:pic>
        <p:nvPicPr>
          <p:cNvPr id="11" name="icon FaCalculator" descr="preencoded.png">    </p:cNvPr>
          <p:cNvPicPr>
            <a:picLocks noChangeAspect="1"/>
          </p:cNvPicPr>
          <p:nvPr/>
        </p:nvPicPr>
        <p:blipFill>
          <a:blip r:embed="rId2"/>
          <a:stretch>
            <a:fillRect/>
          </a:stretch>
        </p:blipFill>
        <p:spPr>
          <a:xfrm>
            <a:off x="3161538" y="1680210"/>
            <a:ext cx="251460" cy="251460"/>
          </a:xfrm>
          <a:prstGeom prst="rect">
            <a:avLst/>
          </a:prstGeom>
        </p:spPr>
      </p:pic>
      <p:sp>
        <p:nvSpPr>
          <p:cNvPr id="12" name="Text 8"/>
          <p:cNvSpPr txBox="1"/>
          <p:nvPr/>
        </p:nvSpPr>
        <p:spPr>
          <a:xfrm>
            <a:off x="3035808" y="2176272"/>
            <a:ext cx="1618488" cy="347472"/>
          </a:xfrm>
          <a:prstGeom prst="rect">
            <a:avLst/>
          </a:prstGeom>
          <a:noFill/>
          <a:ln/>
        </p:spPr>
        <p:txBody>
          <a:bodyPr wrap="square" lIns="0" tIns="0" rIns="0" bIns="0" rtlCol="0" anchor="t"/>
          <a:lstStyle/>
          <a:p>
            <a:pPr indent="0" marL="0">
              <a:buNone/>
            </a:pPr>
            <a:r>
              <a:rPr lang="en-US" sz="1700" b="1" dirty="0">
                <a:solidFill>
                  <a:schemeClr val="tx1"/>
                </a:solidFill>
              </a:rPr>
              <a:t>QUBO</a:t>
            </a:r>
            <a:endParaRPr lang="en-US" sz="1700" dirty="0"/>
          </a:p>
        </p:txBody>
      </p:sp>
      <p:sp>
        <p:nvSpPr>
          <p:cNvPr id="13" name="Text 9"/>
          <p:cNvSpPr txBox="1"/>
          <p:nvPr/>
        </p:nvSpPr>
        <p:spPr>
          <a:xfrm>
            <a:off x="3035808" y="2542032"/>
            <a:ext cx="1618488" cy="640080"/>
          </a:xfrm>
          <a:prstGeom prst="rect">
            <a:avLst/>
          </a:prstGeom>
          <a:noFill/>
          <a:ln/>
        </p:spPr>
        <p:txBody>
          <a:bodyPr wrap="square" lIns="0" tIns="0" rIns="0" bIns="0" rtlCol="0" anchor="t"/>
          <a:lstStyle/>
          <a:p>
            <a:pPr indent="0" marL="0">
              <a:buNone/>
            </a:pPr>
            <a:r>
              <a:rPr lang="en-US" sz="1300" dirty="0">
                <a:solidFill>
                  <a:srgbClr val="5A6577"/>
                </a:solidFill>
              </a:rPr>
              <a:t>54 combinations, 11 qubits</a:t>
            </a:r>
            <a:endParaRPr lang="en-US" sz="1300" dirty="0"/>
          </a:p>
        </p:txBody>
      </p:sp>
      <p:sp>
        <p:nvSpPr>
          <p:cNvPr id="14" name="flow arrow"/>
          <p:cNvSpPr/>
          <p:nvPr/>
        </p:nvSpPr>
        <p:spPr>
          <a:xfrm rot="5400000">
            <a:off x="4901184" y="2212848"/>
            <a:ext cx="100584" cy="182880"/>
          </a:xfrm>
          <a:prstGeom prst="rtTriangle">
            <a:avLst/>
          </a:prstGeom>
          <a:solidFill>
            <a:srgbClr val="C9BDF5"/>
          </a:solidFill>
          <a:ln/>
        </p:spPr>
      </p:sp>
      <p:sp>
        <p:nvSpPr>
          <p:cNvPr id="15" name="quantum step 3"/>
          <p:cNvSpPr/>
          <p:nvPr/>
        </p:nvSpPr>
        <p:spPr>
          <a:xfrm>
            <a:off x="5065776" y="1325880"/>
            <a:ext cx="2029968" cy="1965960"/>
          </a:xfrm>
          <a:prstGeom prst="roundRect">
            <a:avLst>
              <a:gd name="adj" fmla="val 5581"/>
            </a:avLst>
          </a:prstGeom>
          <a:solidFill>
            <a:srgbClr val="F3F0FF"/>
          </a:solidFill>
          <a:ln/>
        </p:spPr>
      </p:sp>
      <p:sp>
        <p:nvSpPr>
          <p:cNvPr id="16" name="icon circle"/>
          <p:cNvSpPr/>
          <p:nvPr/>
        </p:nvSpPr>
        <p:spPr>
          <a:xfrm>
            <a:off x="5294376" y="1554480"/>
            <a:ext cx="502920" cy="502920"/>
          </a:xfrm>
          <a:prstGeom prst="ellipse">
            <a:avLst/>
          </a:prstGeom>
          <a:solidFill>
            <a:srgbClr val="6B4FD8"/>
          </a:solidFill>
          <a:ln/>
        </p:spPr>
      </p:sp>
      <p:pic>
        <p:nvPicPr>
          <p:cNvPr id="17" name="icon FaAtom" descr="preencoded.png">    </p:cNvPr>
          <p:cNvPicPr>
            <a:picLocks noChangeAspect="1"/>
          </p:cNvPicPr>
          <p:nvPr/>
        </p:nvPicPr>
        <p:blipFill>
          <a:blip r:embed="rId3"/>
          <a:stretch>
            <a:fillRect/>
          </a:stretch>
        </p:blipFill>
        <p:spPr>
          <a:xfrm>
            <a:off x="5420106" y="1680210"/>
            <a:ext cx="251460" cy="251460"/>
          </a:xfrm>
          <a:prstGeom prst="rect">
            <a:avLst/>
          </a:prstGeom>
        </p:spPr>
      </p:pic>
      <p:sp>
        <p:nvSpPr>
          <p:cNvPr id="18" name="Text 13"/>
          <p:cNvSpPr txBox="1"/>
          <p:nvPr/>
        </p:nvSpPr>
        <p:spPr>
          <a:xfrm>
            <a:off x="5294376" y="2176272"/>
            <a:ext cx="1618488" cy="347472"/>
          </a:xfrm>
          <a:prstGeom prst="rect">
            <a:avLst/>
          </a:prstGeom>
          <a:noFill/>
          <a:ln/>
        </p:spPr>
        <p:txBody>
          <a:bodyPr wrap="square" lIns="0" tIns="0" rIns="0" bIns="0" rtlCol="0" anchor="t"/>
          <a:lstStyle/>
          <a:p>
            <a:pPr indent="0" marL="0">
              <a:buNone/>
            </a:pPr>
            <a:r>
              <a:rPr lang="en-US" sz="1700" b="1" dirty="0">
                <a:solidFill>
                  <a:schemeClr val="tx1"/>
                </a:solidFill>
              </a:rPr>
              <a:t>QAOA</a:t>
            </a:r>
            <a:endParaRPr lang="en-US" sz="1700" dirty="0"/>
          </a:p>
        </p:txBody>
      </p:sp>
      <p:sp>
        <p:nvSpPr>
          <p:cNvPr id="19" name="Text 14"/>
          <p:cNvSpPr txBox="1"/>
          <p:nvPr/>
        </p:nvSpPr>
        <p:spPr>
          <a:xfrm>
            <a:off x="5294376" y="2542032"/>
            <a:ext cx="1618488" cy="640080"/>
          </a:xfrm>
          <a:prstGeom prst="rect">
            <a:avLst/>
          </a:prstGeom>
          <a:noFill/>
          <a:ln/>
        </p:spPr>
        <p:txBody>
          <a:bodyPr wrap="square" lIns="0" tIns="0" rIns="0" bIns="0" rtlCol="0" anchor="t"/>
          <a:lstStyle/>
          <a:p>
            <a:pPr indent="0" marL="0">
              <a:buNone/>
            </a:pPr>
            <a:r>
              <a:rPr lang="en-US" sz="1300" dirty="0">
                <a:solidFill>
                  <a:srgbClr val="5A6577"/>
                </a:solidFill>
              </a:rPr>
              <a:t>solved in Qiskit, XY mixer, p = 5</a:t>
            </a:r>
            <a:endParaRPr lang="en-US" sz="1300" dirty="0"/>
          </a:p>
        </p:txBody>
      </p:sp>
      <p:sp>
        <p:nvSpPr>
          <p:cNvPr id="20" name="flow arrow"/>
          <p:cNvSpPr/>
          <p:nvPr/>
        </p:nvSpPr>
        <p:spPr>
          <a:xfrm rot="5400000">
            <a:off x="7159752" y="2212848"/>
            <a:ext cx="100584" cy="182880"/>
          </a:xfrm>
          <a:prstGeom prst="rtTriangle">
            <a:avLst/>
          </a:prstGeom>
          <a:solidFill>
            <a:srgbClr val="C9BDF5"/>
          </a:solidFill>
          <a:ln/>
        </p:spPr>
      </p:sp>
      <p:sp>
        <p:nvSpPr>
          <p:cNvPr id="21" name="quantum step 4"/>
          <p:cNvSpPr/>
          <p:nvPr/>
        </p:nvSpPr>
        <p:spPr>
          <a:xfrm>
            <a:off x="7324344" y="1325880"/>
            <a:ext cx="2029968" cy="1965960"/>
          </a:xfrm>
          <a:prstGeom prst="roundRect">
            <a:avLst>
              <a:gd name="adj" fmla="val 5581"/>
            </a:avLst>
          </a:prstGeom>
          <a:solidFill>
            <a:srgbClr val="F3F0FF"/>
          </a:solidFill>
          <a:ln/>
        </p:spPr>
      </p:sp>
      <p:sp>
        <p:nvSpPr>
          <p:cNvPr id="22" name="icon circle"/>
          <p:cNvSpPr/>
          <p:nvPr/>
        </p:nvSpPr>
        <p:spPr>
          <a:xfrm>
            <a:off x="7552944" y="1554480"/>
            <a:ext cx="502920" cy="502920"/>
          </a:xfrm>
          <a:prstGeom prst="ellipse">
            <a:avLst/>
          </a:prstGeom>
          <a:solidFill>
            <a:srgbClr val="6B4FD8"/>
          </a:solidFill>
          <a:ln/>
        </p:spPr>
      </p:sp>
      <p:pic>
        <p:nvPicPr>
          <p:cNvPr id="23" name="icon FaCheckDouble" descr="preencoded.png">    </p:cNvPr>
          <p:cNvPicPr>
            <a:picLocks noChangeAspect="1"/>
          </p:cNvPicPr>
          <p:nvPr/>
        </p:nvPicPr>
        <p:blipFill>
          <a:blip r:embed="rId4"/>
          <a:stretch>
            <a:fillRect/>
          </a:stretch>
        </p:blipFill>
        <p:spPr>
          <a:xfrm>
            <a:off x="7678674" y="1680210"/>
            <a:ext cx="251460" cy="251460"/>
          </a:xfrm>
          <a:prstGeom prst="rect">
            <a:avLst/>
          </a:prstGeom>
        </p:spPr>
      </p:pic>
      <p:sp>
        <p:nvSpPr>
          <p:cNvPr id="24" name="Text 18"/>
          <p:cNvSpPr txBox="1"/>
          <p:nvPr/>
        </p:nvSpPr>
        <p:spPr>
          <a:xfrm>
            <a:off x="7552944" y="2176272"/>
            <a:ext cx="1618488" cy="347472"/>
          </a:xfrm>
          <a:prstGeom prst="rect">
            <a:avLst/>
          </a:prstGeom>
          <a:noFill/>
          <a:ln/>
        </p:spPr>
        <p:txBody>
          <a:bodyPr wrap="square" lIns="0" tIns="0" rIns="0" bIns="0" rtlCol="0" anchor="t"/>
          <a:lstStyle/>
          <a:p>
            <a:pPr indent="0" marL="0">
              <a:buNone/>
            </a:pPr>
            <a:r>
              <a:rPr lang="en-US" sz="1700" b="1" dirty="0">
                <a:solidFill>
                  <a:schemeClr val="tx1"/>
                </a:solidFill>
              </a:rPr>
              <a:t>Verify</a:t>
            </a:r>
            <a:endParaRPr lang="en-US" sz="1700" dirty="0"/>
          </a:p>
        </p:txBody>
      </p:sp>
      <p:sp>
        <p:nvSpPr>
          <p:cNvPr id="25" name="Text 19"/>
          <p:cNvSpPr txBox="1"/>
          <p:nvPr/>
        </p:nvSpPr>
        <p:spPr>
          <a:xfrm>
            <a:off x="7552944" y="2542032"/>
            <a:ext cx="1618488" cy="640080"/>
          </a:xfrm>
          <a:prstGeom prst="rect">
            <a:avLst/>
          </a:prstGeom>
          <a:noFill/>
          <a:ln/>
        </p:spPr>
        <p:txBody>
          <a:bodyPr wrap="square" lIns="0" tIns="0" rIns="0" bIns="0" rtlCol="0" anchor="t"/>
          <a:lstStyle/>
          <a:p>
            <a:pPr indent="0" marL="0">
              <a:buNone/>
            </a:pPr>
            <a:r>
              <a:rPr lang="en-US" sz="1300" dirty="0">
                <a:solidFill>
                  <a:srgbClr val="5A6577"/>
                </a:solidFill>
              </a:rPr>
              <a:t>brute force over all 54</a:t>
            </a:r>
            <a:endParaRPr lang="en-US" sz="1300" dirty="0"/>
          </a:p>
        </p:txBody>
      </p:sp>
      <p:sp>
        <p:nvSpPr>
          <p:cNvPr id="26" name="flow arrow"/>
          <p:cNvSpPr/>
          <p:nvPr/>
        </p:nvSpPr>
        <p:spPr>
          <a:xfrm rot="5400000">
            <a:off x="9418320" y="2212848"/>
            <a:ext cx="100584" cy="182880"/>
          </a:xfrm>
          <a:prstGeom prst="rtTriangle">
            <a:avLst/>
          </a:prstGeom>
          <a:solidFill>
            <a:srgbClr val="C9BDF5"/>
          </a:solidFill>
          <a:ln/>
        </p:spPr>
      </p:sp>
      <p:sp>
        <p:nvSpPr>
          <p:cNvPr id="27" name="quantum step 5"/>
          <p:cNvSpPr/>
          <p:nvPr/>
        </p:nvSpPr>
        <p:spPr>
          <a:xfrm>
            <a:off x="9582912" y="1325880"/>
            <a:ext cx="2029968" cy="1965960"/>
          </a:xfrm>
          <a:prstGeom prst="roundRect">
            <a:avLst>
              <a:gd name="adj" fmla="val 5581"/>
            </a:avLst>
          </a:prstGeom>
          <a:solidFill>
            <a:srgbClr val="F3F0FF"/>
          </a:solidFill>
          <a:ln/>
        </p:spPr>
      </p:sp>
      <p:sp>
        <p:nvSpPr>
          <p:cNvPr id="28" name="icon circle"/>
          <p:cNvSpPr/>
          <p:nvPr/>
        </p:nvSpPr>
        <p:spPr>
          <a:xfrm>
            <a:off x="9811512" y="1554480"/>
            <a:ext cx="502920" cy="502920"/>
          </a:xfrm>
          <a:prstGeom prst="ellipse">
            <a:avLst/>
          </a:prstGeom>
          <a:solidFill>
            <a:srgbClr val="6B4FD8"/>
          </a:solidFill>
          <a:ln/>
        </p:spPr>
      </p:sp>
      <p:pic>
        <p:nvPicPr>
          <p:cNvPr id="29" name="icon FaFileCode" descr="preencoded.png">    </p:cNvPr>
          <p:cNvPicPr>
            <a:picLocks noChangeAspect="1"/>
          </p:cNvPicPr>
          <p:nvPr/>
        </p:nvPicPr>
        <p:blipFill>
          <a:blip r:embed="rId5"/>
          <a:stretch>
            <a:fillRect/>
          </a:stretch>
        </p:blipFill>
        <p:spPr>
          <a:xfrm>
            <a:off x="9937242" y="1680210"/>
            <a:ext cx="251460" cy="251460"/>
          </a:xfrm>
          <a:prstGeom prst="rect">
            <a:avLst/>
          </a:prstGeom>
        </p:spPr>
      </p:pic>
      <p:sp>
        <p:nvSpPr>
          <p:cNvPr id="30" name="Text 23"/>
          <p:cNvSpPr txBox="1"/>
          <p:nvPr/>
        </p:nvSpPr>
        <p:spPr>
          <a:xfrm>
            <a:off x="9811512" y="2176272"/>
            <a:ext cx="1618488" cy="347472"/>
          </a:xfrm>
          <a:prstGeom prst="rect">
            <a:avLst/>
          </a:prstGeom>
          <a:noFill/>
          <a:ln/>
        </p:spPr>
        <p:txBody>
          <a:bodyPr wrap="square" lIns="0" tIns="0" rIns="0" bIns="0" rtlCol="0" anchor="t"/>
          <a:lstStyle/>
          <a:p>
            <a:pPr indent="0" marL="0">
              <a:buNone/>
            </a:pPr>
            <a:r>
              <a:rPr lang="en-US" sz="1700" b="1" dirty="0">
                <a:solidFill>
                  <a:schemeClr val="tx1"/>
                </a:solidFill>
              </a:rPr>
              <a:t>Ship</a:t>
            </a:r>
            <a:endParaRPr lang="en-US" sz="1700" dirty="0"/>
          </a:p>
        </p:txBody>
      </p:sp>
      <p:sp>
        <p:nvSpPr>
          <p:cNvPr id="31" name="Text 24"/>
          <p:cNvSpPr txBox="1"/>
          <p:nvPr/>
        </p:nvSpPr>
        <p:spPr>
          <a:xfrm>
            <a:off x="9811512" y="2542032"/>
            <a:ext cx="1618488" cy="640080"/>
          </a:xfrm>
          <a:prstGeom prst="rect">
            <a:avLst/>
          </a:prstGeom>
          <a:noFill/>
          <a:ln/>
        </p:spPr>
        <p:txBody>
          <a:bodyPr wrap="square" lIns="0" tIns="0" rIns="0" bIns="0" rtlCol="0" anchor="t"/>
          <a:lstStyle/>
          <a:p>
            <a:pPr indent="0" marL="0">
              <a:buNone/>
            </a:pPr>
            <a:r>
              <a:rPr lang="en-US" sz="1300" dirty="0">
                <a:solidFill>
                  <a:srgbClr val="5A6577"/>
                </a:solidFill>
              </a:rPr>
              <a:t>loom_policy.json in the app</a:t>
            </a:r>
            <a:endParaRPr lang="en-US" sz="1300" dirty="0"/>
          </a:p>
        </p:txBody>
      </p:sp>
      <p:sp>
        <p:nvSpPr>
          <p:cNvPr id="32" name="Text 25"/>
          <p:cNvSpPr txBox="1"/>
          <p:nvPr/>
        </p:nvSpPr>
        <p:spPr>
          <a:xfrm>
            <a:off x="548640" y="3657600"/>
            <a:ext cx="3474720" cy="731520"/>
          </a:xfrm>
          <a:prstGeom prst="rect">
            <a:avLst/>
          </a:prstGeom>
          <a:noFill/>
          <a:ln/>
        </p:spPr>
        <p:txBody>
          <a:bodyPr wrap="square" lIns="0" tIns="0" rIns="0" bIns="0" rtlCol="0" anchor="t"/>
          <a:lstStyle/>
          <a:p>
            <a:pPr indent="0" marL="0">
              <a:buNone/>
            </a:pPr>
            <a:r>
              <a:rPr lang="en-US" sz="3600" b="1" dirty="0">
                <a:solidFill>
                  <a:schemeClr val="accent5"/>
                </a:solidFill>
                <a:latin typeface="Arial" pitchFamily="34" charset="0"/>
                <a:ea typeface="Arial" pitchFamily="34" charset="-122"/>
                <a:cs typeface="Arial" pitchFamily="34" charset="-120"/>
              </a:rPr>
              <a:t>15 / 15</a:t>
            </a:r>
            <a:endParaRPr lang="en-US" sz="3600" dirty="0"/>
          </a:p>
        </p:txBody>
      </p:sp>
      <p:sp>
        <p:nvSpPr>
          <p:cNvPr id="33" name="Text 26"/>
          <p:cNvSpPr txBox="1"/>
          <p:nvPr/>
        </p:nvSpPr>
        <p:spPr>
          <a:xfrm>
            <a:off x="548640" y="4389120"/>
            <a:ext cx="3474720" cy="365760"/>
          </a:xfrm>
          <a:prstGeom prst="rect">
            <a:avLst/>
          </a:prstGeom>
          <a:noFill/>
          <a:ln/>
        </p:spPr>
        <p:txBody>
          <a:bodyPr wrap="square" lIns="0" tIns="0" rIns="0" bIns="0" rtlCol="0" anchor="t"/>
          <a:lstStyle/>
          <a:p>
            <a:pPr indent="0" marL="0">
              <a:buNone/>
            </a:pPr>
            <a:r>
              <a:rPr lang="en-US" sz="1500" b="1" dirty="0">
                <a:solidFill>
                  <a:schemeClr val="tx1"/>
                </a:solidFill>
              </a:rPr>
              <a:t>situations matched brute force</a:t>
            </a:r>
            <a:endParaRPr lang="en-US" sz="1500" dirty="0"/>
          </a:p>
        </p:txBody>
      </p:sp>
      <p:sp>
        <p:nvSpPr>
          <p:cNvPr id="34" name="Text 27"/>
          <p:cNvSpPr txBox="1"/>
          <p:nvPr/>
        </p:nvSpPr>
        <p:spPr>
          <a:xfrm>
            <a:off x="548640" y="4754880"/>
            <a:ext cx="3474720" cy="365760"/>
          </a:xfrm>
          <a:prstGeom prst="rect">
            <a:avLst/>
          </a:prstGeom>
          <a:noFill/>
          <a:ln/>
        </p:spPr>
        <p:txBody>
          <a:bodyPr wrap="square" lIns="0" tIns="0" rIns="0" bIns="0" rtlCol="0" anchor="t"/>
          <a:lstStyle/>
          <a:p>
            <a:pPr indent="0" marL="0">
              <a:buNone/>
            </a:pPr>
            <a:r>
              <a:rPr lang="en-US" sz="1300" dirty="0">
                <a:solidFill>
                  <a:srgbClr val="5A6577"/>
                </a:solidFill>
              </a:rPr>
              <a:t>3 FPS goals × 5 heat levels</a:t>
            </a:r>
            <a:endParaRPr lang="en-US" sz="1300" dirty="0"/>
          </a:p>
        </p:txBody>
      </p:sp>
      <p:sp>
        <p:nvSpPr>
          <p:cNvPr id="35" name="Text 28"/>
          <p:cNvSpPr txBox="1"/>
          <p:nvPr/>
        </p:nvSpPr>
        <p:spPr>
          <a:xfrm>
            <a:off x="4297680" y="3657600"/>
            <a:ext cx="3474720" cy="731520"/>
          </a:xfrm>
          <a:prstGeom prst="rect">
            <a:avLst/>
          </a:prstGeom>
          <a:noFill/>
          <a:ln/>
        </p:spPr>
        <p:txBody>
          <a:bodyPr wrap="square" lIns="0" tIns="0" rIns="0" bIns="0" rtlCol="0" anchor="t"/>
          <a:lstStyle/>
          <a:p>
            <a:pPr indent="0" marL="0">
              <a:buNone/>
            </a:pPr>
            <a:r>
              <a:rPr lang="en-US" sz="3600" b="1" dirty="0">
                <a:solidFill>
                  <a:schemeClr val="accent5"/>
                </a:solidFill>
                <a:latin typeface="Arial" pitchFamily="34" charset="0"/>
                <a:ea typeface="Arial" pitchFamily="34" charset="-122"/>
                <a:cs typeface="Arial" pitchFamily="34" charset="-120"/>
              </a:rPr>
              <a:t>0.837 vs 0.84</a:t>
            </a:r>
            <a:endParaRPr lang="en-US" sz="3600" dirty="0"/>
          </a:p>
        </p:txBody>
      </p:sp>
      <p:sp>
        <p:nvSpPr>
          <p:cNvPr id="36" name="Text 29"/>
          <p:cNvSpPr txBox="1"/>
          <p:nvPr/>
        </p:nvSpPr>
        <p:spPr>
          <a:xfrm>
            <a:off x="4297680" y="4389120"/>
            <a:ext cx="3474720" cy="365760"/>
          </a:xfrm>
          <a:prstGeom prst="rect">
            <a:avLst/>
          </a:prstGeom>
          <a:noFill/>
          <a:ln/>
        </p:spPr>
        <p:txBody>
          <a:bodyPr wrap="square" lIns="0" tIns="0" rIns="0" bIns="0" rtlCol="0" anchor="t"/>
          <a:lstStyle/>
          <a:p>
            <a:pPr indent="0" marL="0">
              <a:buNone/>
            </a:pPr>
            <a:r>
              <a:rPr lang="en-US" sz="1500" b="1" dirty="0">
                <a:solidFill>
                  <a:schemeClr val="tx1"/>
                </a:solidFill>
              </a:rPr>
              <a:t>predicted vs measured heat floor</a:t>
            </a:r>
            <a:endParaRPr lang="en-US" sz="1500" dirty="0"/>
          </a:p>
        </p:txBody>
      </p:sp>
      <p:sp>
        <p:nvSpPr>
          <p:cNvPr id="37" name="Text 30"/>
          <p:cNvSpPr txBox="1"/>
          <p:nvPr/>
        </p:nvSpPr>
        <p:spPr>
          <a:xfrm>
            <a:off x="4297680" y="4754880"/>
            <a:ext cx="3474720" cy="365760"/>
          </a:xfrm>
          <a:prstGeom prst="rect">
            <a:avLst/>
          </a:prstGeom>
          <a:noFill/>
          <a:ln/>
        </p:spPr>
        <p:txBody>
          <a:bodyPr wrap="square" lIns="0" tIns="0" rIns="0" bIns="0" rtlCol="0" anchor="t"/>
          <a:lstStyle/>
          <a:p>
            <a:pPr indent="0" marL="0">
              <a:buNone/>
            </a:pPr>
            <a:r>
              <a:rPr lang="en-US" sz="1300" dirty="0">
                <a:solidFill>
                  <a:srgbClr val="5A6577"/>
                </a:solidFill>
              </a:rPr>
              <a:t>the heat model holds up on the phone</a:t>
            </a:r>
            <a:endParaRPr lang="en-US" sz="1300" dirty="0"/>
          </a:p>
        </p:txBody>
      </p:sp>
      <p:sp>
        <p:nvSpPr>
          <p:cNvPr id="38" name="Text 31"/>
          <p:cNvSpPr txBox="1"/>
          <p:nvPr/>
        </p:nvSpPr>
        <p:spPr>
          <a:xfrm>
            <a:off x="8046720" y="3657600"/>
            <a:ext cx="3474720" cy="731520"/>
          </a:xfrm>
          <a:prstGeom prst="rect">
            <a:avLst/>
          </a:prstGeom>
          <a:noFill/>
          <a:ln/>
        </p:spPr>
        <p:txBody>
          <a:bodyPr wrap="square" lIns="0" tIns="0" rIns="0" bIns="0" rtlCol="0" anchor="t"/>
          <a:lstStyle/>
          <a:p>
            <a:pPr indent="0" marL="0">
              <a:buNone/>
            </a:pPr>
            <a:r>
              <a:rPr lang="en-US" sz="3600" b="1" dirty="0">
                <a:solidFill>
                  <a:schemeClr val="accent5"/>
                </a:solidFill>
                <a:latin typeface="Arial" pitchFamily="34" charset="0"/>
                <a:ea typeface="Arial" pitchFamily="34" charset="-122"/>
                <a:cs typeface="Arial" pitchFamily="34" charset="-120"/>
              </a:rPr>
              <a:t>every 3 s</a:t>
            </a:r>
            <a:endParaRPr lang="en-US" sz="3600" dirty="0"/>
          </a:p>
        </p:txBody>
      </p:sp>
      <p:sp>
        <p:nvSpPr>
          <p:cNvPr id="39" name="Text 32"/>
          <p:cNvSpPr txBox="1"/>
          <p:nvPr/>
        </p:nvSpPr>
        <p:spPr>
          <a:xfrm>
            <a:off x="8046720" y="4389120"/>
            <a:ext cx="3474720" cy="365760"/>
          </a:xfrm>
          <a:prstGeom prst="rect">
            <a:avLst/>
          </a:prstGeom>
          <a:noFill/>
          <a:ln/>
        </p:spPr>
        <p:txBody>
          <a:bodyPr wrap="square" lIns="0" tIns="0" rIns="0" bIns="0" rtlCol="0" anchor="t"/>
          <a:lstStyle/>
          <a:p>
            <a:pPr indent="0" marL="0">
              <a:buNone/>
            </a:pPr>
            <a:r>
              <a:rPr lang="en-US" sz="1500" b="1" dirty="0">
                <a:solidFill>
                  <a:schemeClr val="tx1"/>
                </a:solidFill>
              </a:rPr>
              <a:t>the Weaver follows the plan</a:t>
            </a:r>
            <a:endParaRPr lang="en-US" sz="1500" dirty="0"/>
          </a:p>
        </p:txBody>
      </p:sp>
      <p:sp>
        <p:nvSpPr>
          <p:cNvPr id="40" name="Text 33"/>
          <p:cNvSpPr txBox="1"/>
          <p:nvPr/>
        </p:nvSpPr>
        <p:spPr>
          <a:xfrm>
            <a:off x="8046720" y="4754880"/>
            <a:ext cx="3474720" cy="365760"/>
          </a:xfrm>
          <a:prstGeom prst="rect">
            <a:avLst/>
          </a:prstGeom>
          <a:noFill/>
          <a:ln/>
        </p:spPr>
        <p:txBody>
          <a:bodyPr wrap="square" lIns="0" tIns="0" rIns="0" bIns="0" rtlCol="0" anchor="t"/>
          <a:lstStyle/>
          <a:p>
            <a:pPr indent="0" marL="0">
              <a:buNone/>
            </a:pPr>
            <a:r>
              <a:rPr lang="en-US" sz="1300" dirty="0">
                <a:solidFill>
                  <a:srgbClr val="5A6577"/>
                </a:solidFill>
              </a:rPr>
              <a:t>its reflexes stay on as a safety net</a:t>
            </a:r>
            <a:endParaRPr lang="en-US" sz="1300" dirty="0"/>
          </a:p>
        </p:txBody>
      </p:sp>
      <p:sp>
        <p:nvSpPr>
          <p:cNvPr id="41" name="honest note"/>
          <p:cNvSpPr/>
          <p:nvPr/>
        </p:nvSpPr>
        <p:spPr>
          <a:xfrm>
            <a:off x="548640" y="5349240"/>
            <a:ext cx="11064240" cy="685800"/>
          </a:xfrm>
          <a:prstGeom prst="roundRect">
            <a:avLst>
              <a:gd name="adj" fmla="val 16000"/>
            </a:avLst>
          </a:prstGeom>
          <a:solidFill>
            <a:schemeClr val="bg2"/>
          </a:solidFill>
          <a:ln/>
        </p:spPr>
      </p:sp>
      <p:sp>
        <p:nvSpPr>
          <p:cNvPr id="42" name="Text 35"/>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300" b="1" dirty="0">
                <a:solidFill>
                  <a:schemeClr val="tx1"/>
                </a:solidFill>
              </a:rPr>
              <a:t>Honest scope: </a:t>
            </a:r>
            <a:pPr indent="0" marL="0">
              <a:buNone/>
            </a:pPr>
            <a:r>
              <a:rPr lang="en-US" sz="1300" dirty="0">
                <a:solidFill>
                  <a:schemeClr val="tx1"/>
                </a:solidFill>
              </a:rPr>
              <a:t>runs on a quantum simulator, not quantum hardware. With 54 options brute force is instant; QAOA shows the decision has the right shape as chiplets and levels grow (10 chiplets × 4 levels ≈ 1 million).</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Where LOOM fits</a:t>
            </a:r>
            <a:endParaRPr lang="en-US" sz="3200" dirty="0"/>
          </a:p>
        </p:txBody>
      </p:sp>
      <p:graphicFrame>
        <p:nvGraphicFramePr>
          <p:cNvPr id="12" name="positioning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3749040"/>
                <a:gridCol w="3383280"/>
              </a:tblGrid>
              <a:tr h="502920">
                <a:tc>
                  <a:txBody>
                    <a:bodyPr/>
                    <a:lstStyle/>
                    <a:p>
                      <a:pPr indent="0" marL="0">
                        <a:buNone/>
                      </a:pPr>
                      <a:r>
                        <a:rPr lang="en-US" sz="1500" b="1" dirty="0">
                          <a:solidFill>
                            <a:schemeClr val="bg1"/>
                          </a:solidFill>
                        </a:rPr>
                        <a:t>Approach</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does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misses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tx2"/>
                    </a:solidFill>
                  </a:tcPr>
                </a:tc>
              </a:tr>
              <a:tr h="731520">
                <a:tc>
                  <a:txBody>
                    <a:bodyPr/>
                    <a:lstStyle/>
                    <a:p>
                      <a:pPr indent="0" marL="0">
                        <a:buNone/>
                      </a:pPr>
                      <a:r>
                        <a:rPr lang="en-US" sz="1500" b="1" dirty="0">
                          <a:solidFill>
                            <a:schemeClr val="tx1"/>
                          </a:solidFill>
                        </a:rPr>
                        <a:t>Android throttling, vendor thermal engines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slows the whole chip when hot</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doesn't know what the app needs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731520">
                <a:tc>
                  <a:txBody>
                    <a:bodyPr/>
                    <a:lstStyle/>
                    <a:p>
                      <a:pPr indent="0" marL="0">
                        <a:buNone/>
                      </a:pPr>
                      <a:r>
                        <a:rPr lang="en-US" sz="1500" b="1" dirty="0">
                          <a:solidFill>
                            <a:schemeClr val="tx1"/>
                          </a:solidFill>
                        </a:rPr>
                        <a:t>Android ADPF, Game Mode, game boosters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hints, or cuts performance app-wide</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no per-part trade-offs</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2"/>
                    </a:solidFill>
                  </a:tcPr>
                </a:tc>
              </a:tr>
              <a:tr h="731520">
                <a:tc>
                  <a:txBody>
                    <a:bodyPr/>
                    <a:lstStyle/>
                    <a:p>
                      <a:pPr indent="0" marL="0">
                        <a:buNone/>
                      </a:pPr>
                      <a:r>
                        <a:rPr lang="en-US" sz="1500" b="1" dirty="0">
                          <a:solidFill>
                            <a:schemeClr val="tx1"/>
                          </a:solidFill>
                        </a:rPr>
                        <a:t>AI runtimes (LiteRT, MediaPipe, AI Hub)</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make one model run fast</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don't manage heat over time</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chemeClr val="bg1"/>
                    </a:solidFill>
                  </a:tcPr>
                </a:tc>
              </a:tr>
              <a:tr h="731520">
                <a:tc>
                  <a:txBody>
                    <a:bodyPr/>
                    <a:lstStyle/>
                    <a:p>
                      <a:pPr indent="0" marL="0">
                        <a:buNone/>
                      </a:pPr>
                      <a:r>
                        <a:rPr lang="en-US" sz="1500" b="1" dirty="0">
                          <a:solidFill>
                            <a:schemeClr val="accent1"/>
                          </a:solidFill>
                        </a:rPr>
                        <a:t>LOOM</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E7EEFF"/>
                    </a:solidFill>
                  </a:tcPr>
                </a:tc>
                <a:tc>
                  <a:txBody>
                    <a:bodyPr/>
                    <a:lstStyle/>
                    <a:p>
                      <a:pPr indent="0" marL="0">
                        <a:buNone/>
                      </a:pPr>
                      <a:r>
                        <a:rPr lang="en-US" sz="1500" b="1" dirty="0">
                          <a:solidFill>
                            <a:schemeClr val="accent1"/>
                          </a:solidFill>
                        </a:rPr>
                        <a:t>cuts the parts you notice least, plans ahead</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E7EEFF"/>
                    </a:solidFill>
                  </a:tcPr>
                </a:tc>
                <a:tc>
                  <a:txBody>
                    <a:bodyPr/>
                    <a:lstStyle/>
                    <a:p>
                      <a:pPr indent="0" marL="0">
                        <a:buNone/>
                      </a:pPr>
                      <a:r>
                        <a:rPr lang="en-US" sz="1500" b="1" dirty="0">
                          <a:solidFill>
                            <a:schemeClr val="accent1"/>
                          </a:solidFill>
                        </a:rPr>
                        <a:t>builds on ADPF's heat reading</a:t>
                      </a:r>
                      <a:endParaRPr lang="en-US" sz="1500" dirty="0"/>
                    </a:p>
                  </a:txBody>
                  <a:tcPr marL="137160" marR="137160" marT="0" marB="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E7EEFF"/>
                    </a:solidFill>
                  </a:tcPr>
                </a:tc>
              </a:tr>
            </a:tbl>
          </a:graphicData>
        </a:graphic>
      </p:graphicFrame>
      <p:sp>
        <p:nvSpPr>
          <p:cNvPr id="4" name="Text 1"/>
          <p:cNvSpPr txBox="1"/>
          <p:nvPr/>
        </p:nvSpPr>
        <p:spPr>
          <a:xfrm>
            <a:off x="548640" y="5166360"/>
            <a:ext cx="11064240" cy="731520"/>
          </a:xfrm>
          <a:prstGeom prst="rect">
            <a:avLst/>
          </a:prstGeom>
          <a:noFill/>
          <a:ln/>
        </p:spPr>
        <p:txBody>
          <a:bodyPr wrap="square" lIns="0" tIns="0" rIns="0" bIns="0" rtlCol="0" anchor="t"/>
          <a:lstStyle/>
          <a:p>
            <a:pPr indent="0" marL="0">
              <a:buNone/>
            </a:pPr>
            <a:r>
              <a:rPr lang="en-US" sz="1800" b="1" dirty="0">
                <a:solidFill>
                  <a:schemeClr val="tx1"/>
                </a:solidFill>
              </a:rPr>
              <a:t>The OS sees one hot chip. LOOM sees which parts of the app matter, so it dims the screen before it touches accuracy.</a:t>
            </a:r>
            <a:endParaRPr lang="en-US" sz="1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it matters for iQOO</a:t>
            </a:r>
            <a:endParaRPr lang="en-US" sz="3200" dirty="0"/>
          </a:p>
        </p:txBody>
      </p:sp>
      <p:sp>
        <p:nvSpPr>
          <p:cNvPr id="3" name="hardware vs software"/>
          <p:cNvSpPr/>
          <p:nvPr/>
        </p:nvSpPr>
        <p:spPr>
          <a:xfrm>
            <a:off x="548640" y="1371600"/>
            <a:ext cx="5120640" cy="4480560"/>
          </a:xfrm>
          <a:prstGeom prst="roundRect">
            <a:avLst>
              <a:gd name="adj" fmla="val 2449"/>
            </a:avLst>
          </a:prstGeom>
          <a:solidFill>
            <a:schemeClr val="tx2"/>
          </a:solidFill>
          <a:ln/>
        </p:spPr>
      </p:sp>
      <p:sp>
        <p:nvSpPr>
          <p:cNvPr id="4" name="icon circle"/>
          <p:cNvSpPr/>
          <p:nvPr/>
        </p:nvSpPr>
        <p:spPr>
          <a:xfrm>
            <a:off x="868680" y="1691640"/>
            <a:ext cx="640080" cy="640080"/>
          </a:xfrm>
          <a:prstGeom prst="ellipse">
            <a:avLst/>
          </a:prstGeom>
          <a:solidFill>
            <a:srgbClr val="0A8FC2"/>
          </a:solidFill>
          <a:ln/>
        </p:spPr>
      </p:sp>
      <p:pic>
        <p:nvPicPr>
          <p:cNvPr id="5" name="icon FaSnowflake" descr="preencoded.png">    </p:cNvPr>
          <p:cNvPicPr>
            <a:picLocks noChangeAspect="1"/>
          </p:cNvPicPr>
          <p:nvPr/>
        </p:nvPicPr>
        <p:blipFill>
          <a:blip r:embed="rId1"/>
          <a:stretch>
            <a:fillRect/>
          </a:stretch>
        </p:blipFill>
        <p:spPr>
          <a:xfrm>
            <a:off x="1028700" y="1851660"/>
            <a:ext cx="320040" cy="320040"/>
          </a:xfrm>
          <a:prstGeom prst="rect">
            <a:avLst/>
          </a:prstGeom>
        </p:spPr>
      </p:pic>
      <p:sp>
        <p:nvSpPr>
          <p:cNvPr id="6" name="Text 3"/>
          <p:cNvSpPr txBox="1"/>
          <p:nvPr/>
        </p:nvSpPr>
        <p:spPr>
          <a:xfrm>
            <a:off x="868680" y="2514600"/>
            <a:ext cx="4572000" cy="411480"/>
          </a:xfrm>
          <a:prstGeom prst="rect">
            <a:avLst/>
          </a:prstGeom>
          <a:noFill/>
          <a:ln/>
        </p:spPr>
        <p:txBody>
          <a:bodyPr wrap="square" lIns="0" tIns="0" rIns="0" bIns="0" rtlCol="0" anchor="t"/>
          <a:lstStyle/>
          <a:p>
            <a:pPr indent="0" marL="0">
              <a:buNone/>
            </a:pPr>
            <a:r>
              <a:rPr lang="en-US" sz="1900" b="1" dirty="0">
                <a:solidFill>
                  <a:schemeClr val="bg1"/>
                </a:solidFill>
              </a:rPr>
              <a:t>Hardware cools the heat</a:t>
            </a:r>
            <a:endParaRPr lang="en-US" sz="1900" dirty="0"/>
          </a:p>
        </p:txBody>
      </p:sp>
      <p:sp>
        <p:nvSpPr>
          <p:cNvPr id="7" name="Text 4"/>
          <p:cNvSpPr txBox="1"/>
          <p:nvPr/>
        </p:nvSpPr>
        <p:spPr>
          <a:xfrm>
            <a:off x="868680" y="2926080"/>
            <a:ext cx="4480560" cy="731520"/>
          </a:xfrm>
          <a:prstGeom prst="rect">
            <a:avLst/>
          </a:prstGeom>
          <a:noFill/>
          <a:ln/>
        </p:spPr>
        <p:txBody>
          <a:bodyPr wrap="square" lIns="0" tIns="0" rIns="0" bIns="0" rtlCol="0" anchor="t"/>
          <a:lstStyle/>
          <a:p>
            <a:pPr indent="0" marL="0">
              <a:buNone/>
            </a:pPr>
            <a:r>
              <a:rPr lang="en-US" sz="1400" dirty="0">
                <a:solidFill>
                  <a:srgbClr val="C9D3E3"/>
                </a:solidFill>
              </a:rPr>
              <a:t>The iQOO 15's large vapour chamber (about 8,000 mm²) moves heat away from the chip.</a:t>
            </a:r>
            <a:endParaRPr lang="en-US" sz="1400" dirty="0"/>
          </a:p>
        </p:txBody>
      </p:sp>
      <p:sp>
        <p:nvSpPr>
          <p:cNvPr id="8" name="icon circle"/>
          <p:cNvSpPr/>
          <p:nvPr/>
        </p:nvSpPr>
        <p:spPr>
          <a:xfrm>
            <a:off x="868680" y="3840480"/>
            <a:ext cx="640080" cy="640080"/>
          </a:xfrm>
          <a:prstGeom prst="ellipse">
            <a:avLst/>
          </a:prstGeom>
          <a:solidFill>
            <a:srgbClr val="1A5CFF"/>
          </a:solidFill>
          <a:ln/>
        </p:spPr>
      </p:sp>
      <p:pic>
        <p:nvPicPr>
          <p:cNvPr id="9" name="icon FaInfinity" descr="preencoded.png">    </p:cNvPr>
          <p:cNvPicPr>
            <a:picLocks noChangeAspect="1"/>
          </p:cNvPicPr>
          <p:nvPr/>
        </p:nvPicPr>
        <p:blipFill>
          <a:blip r:embed="rId2"/>
          <a:stretch>
            <a:fillRect/>
          </a:stretch>
        </p:blipFill>
        <p:spPr>
          <a:xfrm>
            <a:off x="1028700" y="4000500"/>
            <a:ext cx="320040" cy="320040"/>
          </a:xfrm>
          <a:prstGeom prst="rect">
            <a:avLst/>
          </a:prstGeom>
        </p:spPr>
      </p:pic>
      <p:sp>
        <p:nvSpPr>
          <p:cNvPr id="10" name="Text 6"/>
          <p:cNvSpPr txBox="1"/>
          <p:nvPr/>
        </p:nvSpPr>
        <p:spPr>
          <a:xfrm>
            <a:off x="868680" y="4663440"/>
            <a:ext cx="4572000" cy="411480"/>
          </a:xfrm>
          <a:prstGeom prst="rect">
            <a:avLst/>
          </a:prstGeom>
          <a:noFill/>
          <a:ln/>
        </p:spPr>
        <p:txBody>
          <a:bodyPr wrap="square" lIns="0" tIns="0" rIns="0" bIns="0" rtlCol="0" anchor="t"/>
          <a:lstStyle/>
          <a:p>
            <a:pPr indent="0" marL="0">
              <a:buNone/>
            </a:pPr>
            <a:r>
              <a:rPr lang="en-US" sz="1900" b="1" dirty="0">
                <a:solidFill>
                  <a:schemeClr val="bg1"/>
                </a:solidFill>
              </a:rPr>
              <a:t>LOOM makes less heat</a:t>
            </a:r>
            <a:endParaRPr lang="en-US" sz="1900" dirty="0"/>
          </a:p>
        </p:txBody>
      </p:sp>
      <p:sp>
        <p:nvSpPr>
          <p:cNvPr id="11" name="Text 7"/>
          <p:cNvSpPr txBox="1"/>
          <p:nvPr/>
        </p:nvSpPr>
        <p:spPr>
          <a:xfrm>
            <a:off x="868680" y="5074920"/>
            <a:ext cx="4480560" cy="548640"/>
          </a:xfrm>
          <a:prstGeom prst="rect">
            <a:avLst/>
          </a:prstGeom>
          <a:noFill/>
          <a:ln/>
        </p:spPr>
        <p:txBody>
          <a:bodyPr wrap="square" lIns="0" tIns="0" rIns="0" bIns="0" rtlCol="0" anchor="t"/>
          <a:lstStyle/>
          <a:p>
            <a:pPr indent="0" marL="0">
              <a:buNone/>
            </a:pPr>
            <a:r>
              <a:rPr lang="en-US" sz="1400" dirty="0">
                <a:solidFill>
                  <a:srgbClr val="C9D3E3"/>
                </a:solidFill>
              </a:rPr>
              <a:t>So the cooling has less to fight, for longer.</a:t>
            </a:r>
            <a:endParaRPr lang="en-US" sz="1400" dirty="0"/>
          </a:p>
        </p:txBody>
      </p:sp>
      <p:sp>
        <p:nvSpPr>
          <p:cNvPr id="12" name="icon circle"/>
          <p:cNvSpPr/>
          <p:nvPr/>
        </p:nvSpPr>
        <p:spPr>
          <a:xfrm>
            <a:off x="6126480" y="1417320"/>
            <a:ext cx="566928" cy="566928"/>
          </a:xfrm>
          <a:prstGeom prst="ellipse">
            <a:avLst/>
          </a:prstGeom>
          <a:solidFill>
            <a:srgbClr val="14915F"/>
          </a:solidFill>
          <a:ln/>
        </p:spPr>
      </p:sp>
      <p:pic>
        <p:nvPicPr>
          <p:cNvPr id="13" name="icon FaTachometerAlt" descr="preencoded.png">    </p:cNvPr>
          <p:cNvPicPr>
            <a:picLocks noChangeAspect="1"/>
          </p:cNvPicPr>
          <p:nvPr/>
        </p:nvPicPr>
        <p:blipFill>
          <a:blip r:embed="rId3"/>
          <a:stretch>
            <a:fillRect/>
          </a:stretch>
        </p:blipFill>
        <p:spPr>
          <a:xfrm>
            <a:off x="6268212" y="1559052"/>
            <a:ext cx="283464" cy="283464"/>
          </a:xfrm>
          <a:prstGeom prst="rect">
            <a:avLst/>
          </a:prstGeom>
        </p:spPr>
      </p:pic>
      <p:sp>
        <p:nvSpPr>
          <p:cNvPr id="14" name="Text 9"/>
          <p:cNvSpPr txBox="1"/>
          <p:nvPr/>
        </p:nvSpPr>
        <p:spPr>
          <a:xfrm>
            <a:off x="6903720" y="1399032"/>
            <a:ext cx="4663440" cy="365760"/>
          </a:xfrm>
          <a:prstGeom prst="rect">
            <a:avLst/>
          </a:prstGeom>
          <a:noFill/>
          <a:ln/>
        </p:spPr>
        <p:txBody>
          <a:bodyPr wrap="square" lIns="0" tIns="0" rIns="0" bIns="0" rtlCol="0" anchor="t"/>
          <a:lstStyle/>
          <a:p>
            <a:pPr indent="0" marL="0">
              <a:buNone/>
            </a:pPr>
            <a:r>
              <a:rPr lang="en-US" sz="1800" b="1" dirty="0">
                <a:solidFill>
                  <a:schemeClr val="tx1"/>
                </a:solidFill>
              </a:rPr>
              <a:t>AI stays fast for longer</a:t>
            </a:r>
            <a:endParaRPr lang="en-US" sz="1800" dirty="0"/>
          </a:p>
        </p:txBody>
      </p:sp>
      <p:sp>
        <p:nvSpPr>
          <p:cNvPr id="15" name="Text 10"/>
          <p:cNvSpPr txBox="1"/>
          <p:nvPr/>
        </p:nvSpPr>
        <p:spPr>
          <a:xfrm>
            <a:off x="6903720" y="1764792"/>
            <a:ext cx="4663440" cy="365760"/>
          </a:xfrm>
          <a:prstGeom prst="rect">
            <a:avLst/>
          </a:prstGeom>
          <a:noFill/>
          <a:ln/>
        </p:spPr>
        <p:txBody>
          <a:bodyPr wrap="square" lIns="0" tIns="0" rIns="0" bIns="0" rtlCol="0" anchor="t"/>
          <a:lstStyle/>
          <a:p>
            <a:pPr indent="0" marL="0">
              <a:buNone/>
            </a:pPr>
            <a:r>
              <a:rPr lang="en-US" sz="1400" dirty="0">
                <a:solidFill>
                  <a:srgbClr val="5A6577"/>
                </a:solidFill>
              </a:rPr>
              <a:t>not just for the first five minutes</a:t>
            </a:r>
            <a:endParaRPr lang="en-US" sz="1400" dirty="0"/>
          </a:p>
        </p:txBody>
      </p:sp>
      <p:sp>
        <p:nvSpPr>
          <p:cNvPr id="16" name="icon circle"/>
          <p:cNvSpPr/>
          <p:nvPr/>
        </p:nvSpPr>
        <p:spPr>
          <a:xfrm>
            <a:off x="6126480" y="2532888"/>
            <a:ext cx="566928" cy="566928"/>
          </a:xfrm>
          <a:prstGeom prst="ellipse">
            <a:avLst/>
          </a:prstGeom>
          <a:solidFill>
            <a:srgbClr val="14915F"/>
          </a:solidFill>
          <a:ln/>
        </p:spPr>
      </p:sp>
      <p:pic>
        <p:nvPicPr>
          <p:cNvPr id="17" name="icon FaBatteryThreeQuarters" descr="preencoded.png">    </p:cNvPr>
          <p:cNvPicPr>
            <a:picLocks noChangeAspect="1"/>
          </p:cNvPicPr>
          <p:nvPr/>
        </p:nvPicPr>
        <p:blipFill>
          <a:blip r:embed="rId4"/>
          <a:stretch>
            <a:fillRect/>
          </a:stretch>
        </p:blipFill>
        <p:spPr>
          <a:xfrm>
            <a:off x="6268212" y="2674620"/>
            <a:ext cx="283464" cy="283464"/>
          </a:xfrm>
          <a:prstGeom prst="rect">
            <a:avLst/>
          </a:prstGeom>
        </p:spPr>
      </p:pic>
      <p:sp>
        <p:nvSpPr>
          <p:cNvPr id="18" name="Text 12"/>
          <p:cNvSpPr txBox="1"/>
          <p:nvPr/>
        </p:nvSpPr>
        <p:spPr>
          <a:xfrm>
            <a:off x="6903720" y="2514600"/>
            <a:ext cx="4663440" cy="365760"/>
          </a:xfrm>
          <a:prstGeom prst="rect">
            <a:avLst/>
          </a:prstGeom>
          <a:noFill/>
          <a:ln/>
        </p:spPr>
        <p:txBody>
          <a:bodyPr wrap="square" lIns="0" tIns="0" rIns="0" bIns="0" rtlCol="0" anchor="t"/>
          <a:lstStyle/>
          <a:p>
            <a:pPr indent="0" marL="0">
              <a:buNone/>
            </a:pPr>
            <a:r>
              <a:rPr lang="en-US" sz="1800" b="1" dirty="0">
                <a:solidFill>
                  <a:schemeClr val="tx1"/>
                </a:solidFill>
              </a:rPr>
              <a:t>Longer battery while using AI</a:t>
            </a:r>
            <a:endParaRPr lang="en-US" sz="1800" dirty="0"/>
          </a:p>
        </p:txBody>
      </p:sp>
      <p:sp>
        <p:nvSpPr>
          <p:cNvPr id="19" name="Text 13"/>
          <p:cNvSpPr txBox="1"/>
          <p:nvPr/>
        </p:nvSpPr>
        <p:spPr>
          <a:xfrm>
            <a:off x="6903720" y="2880360"/>
            <a:ext cx="4663440" cy="365760"/>
          </a:xfrm>
          <a:prstGeom prst="rect">
            <a:avLst/>
          </a:prstGeom>
          <a:noFill/>
          <a:ln/>
        </p:spPr>
        <p:txBody>
          <a:bodyPr wrap="square" lIns="0" tIns="0" rIns="0" bIns="0" rtlCol="0" anchor="t"/>
          <a:lstStyle/>
          <a:p>
            <a:pPr indent="0" marL="0">
              <a:buNone/>
            </a:pPr>
            <a:r>
              <a:rPr lang="en-US" sz="1400" dirty="0">
                <a:solidFill>
                  <a:srgbClr val="5A6577"/>
                </a:solidFill>
              </a:rPr>
              <a:t>−44% measured in the camera demo</a:t>
            </a:r>
            <a:endParaRPr lang="en-US" sz="1400" dirty="0"/>
          </a:p>
        </p:txBody>
      </p:sp>
      <p:sp>
        <p:nvSpPr>
          <p:cNvPr id="20" name="icon circle"/>
          <p:cNvSpPr/>
          <p:nvPr/>
        </p:nvSpPr>
        <p:spPr>
          <a:xfrm>
            <a:off x="6126480" y="3648456"/>
            <a:ext cx="566928" cy="566928"/>
          </a:xfrm>
          <a:prstGeom prst="ellipse">
            <a:avLst/>
          </a:prstGeom>
          <a:solidFill>
            <a:srgbClr val="14915F"/>
          </a:solidFill>
          <a:ln/>
        </p:spPr>
      </p:sp>
      <p:pic>
        <p:nvPicPr>
          <p:cNvPr id="21" name="icon FaHandPaper" descr="preencoded.png">    </p:cNvPr>
          <p:cNvPicPr>
            <a:picLocks noChangeAspect="1"/>
          </p:cNvPicPr>
          <p:nvPr/>
        </p:nvPicPr>
        <p:blipFill>
          <a:blip r:embed="rId5"/>
          <a:stretch>
            <a:fillRect/>
          </a:stretch>
        </p:blipFill>
        <p:spPr>
          <a:xfrm>
            <a:off x="6268212" y="3790188"/>
            <a:ext cx="283464" cy="283464"/>
          </a:xfrm>
          <a:prstGeom prst="rect">
            <a:avLst/>
          </a:prstGeom>
        </p:spPr>
      </p:pic>
      <p:sp>
        <p:nvSpPr>
          <p:cNvPr id="22" name="Text 15"/>
          <p:cNvSpPr txBox="1"/>
          <p:nvPr/>
        </p:nvSpPr>
        <p:spPr>
          <a:xfrm>
            <a:off x="6903720" y="3630168"/>
            <a:ext cx="4663440" cy="365760"/>
          </a:xfrm>
          <a:prstGeom prst="rect">
            <a:avLst/>
          </a:prstGeom>
          <a:noFill/>
          <a:ln/>
        </p:spPr>
        <p:txBody>
          <a:bodyPr wrap="square" lIns="0" tIns="0" rIns="0" bIns="0" rtlCol="0" anchor="t"/>
          <a:lstStyle/>
          <a:p>
            <a:pPr indent="0" marL="0">
              <a:buNone/>
            </a:pPr>
            <a:r>
              <a:rPr lang="en-US" sz="1800" b="1" dirty="0">
                <a:solidFill>
                  <a:schemeClr val="tx1"/>
                </a:solidFill>
              </a:rPr>
              <a:t>Cooler phone in the hand</a:t>
            </a:r>
            <a:endParaRPr lang="en-US" sz="1800" dirty="0"/>
          </a:p>
        </p:txBody>
      </p:sp>
      <p:sp>
        <p:nvSpPr>
          <p:cNvPr id="23" name="Text 16"/>
          <p:cNvSpPr txBox="1"/>
          <p:nvPr/>
        </p:nvSpPr>
        <p:spPr>
          <a:xfrm>
            <a:off x="6903720" y="3995928"/>
            <a:ext cx="4663440" cy="365760"/>
          </a:xfrm>
          <a:prstGeom prst="rect">
            <a:avLst/>
          </a:prstGeom>
          <a:noFill/>
          <a:ln/>
        </p:spPr>
        <p:txBody>
          <a:bodyPr wrap="square" lIns="0" tIns="0" rIns="0" bIns="0" rtlCol="0" anchor="t"/>
          <a:lstStyle/>
          <a:p>
            <a:pPr indent="0" marL="0">
              <a:buNone/>
            </a:pPr>
            <a:r>
              <a:rPr lang="en-US" sz="1400" dirty="0">
                <a:solidFill>
                  <a:srgbClr val="5A6577"/>
                </a:solidFill>
              </a:rPr>
              <a:t>skin temperature is what users feel</a:t>
            </a:r>
            <a:endParaRPr lang="en-US" sz="1400" dirty="0"/>
          </a:p>
        </p:txBody>
      </p:sp>
      <p:sp>
        <p:nvSpPr>
          <p:cNvPr id="24" name="icon circle"/>
          <p:cNvSpPr/>
          <p:nvPr/>
        </p:nvSpPr>
        <p:spPr>
          <a:xfrm>
            <a:off x="6126480" y="4764024"/>
            <a:ext cx="566928" cy="566928"/>
          </a:xfrm>
          <a:prstGeom prst="ellipse">
            <a:avLst/>
          </a:prstGeom>
          <a:solidFill>
            <a:srgbClr val="14915F"/>
          </a:solidFill>
          <a:ln/>
        </p:spPr>
      </p:sp>
      <p:pic>
        <p:nvPicPr>
          <p:cNvPr id="25" name="icon FaStar" descr="preencoded.png">    </p:cNvPr>
          <p:cNvPicPr>
            <a:picLocks noChangeAspect="1"/>
          </p:cNvPicPr>
          <p:nvPr/>
        </p:nvPicPr>
        <p:blipFill>
          <a:blip r:embed="rId6"/>
          <a:stretch>
            <a:fillRect/>
          </a:stretch>
        </p:blipFill>
        <p:spPr>
          <a:xfrm>
            <a:off x="6268212" y="4905756"/>
            <a:ext cx="283464" cy="283464"/>
          </a:xfrm>
          <a:prstGeom prst="rect">
            <a:avLst/>
          </a:prstGeom>
        </p:spPr>
      </p:pic>
      <p:sp>
        <p:nvSpPr>
          <p:cNvPr id="26" name="Text 18"/>
          <p:cNvSpPr txBox="1"/>
          <p:nvPr/>
        </p:nvSpPr>
        <p:spPr>
          <a:xfrm>
            <a:off x="6903720" y="4745736"/>
            <a:ext cx="4663440" cy="365760"/>
          </a:xfrm>
          <a:prstGeom prst="rect">
            <a:avLst/>
          </a:prstGeom>
          <a:noFill/>
          <a:ln/>
        </p:spPr>
        <p:txBody>
          <a:bodyPr wrap="square" lIns="0" tIns="0" rIns="0" bIns="0" rtlCol="0" anchor="t"/>
          <a:lstStyle/>
          <a:p>
            <a:pPr indent="0" marL="0">
              <a:buNone/>
            </a:pPr>
            <a:r>
              <a:rPr lang="en-US" sz="1800" b="1" dirty="0">
                <a:solidFill>
                  <a:schemeClr val="tx1"/>
                </a:solidFill>
              </a:rPr>
              <a:t>A story nobody else has</a:t>
            </a:r>
            <a:endParaRPr lang="en-US" sz="1800" dirty="0"/>
          </a:p>
        </p:txBody>
      </p:sp>
      <p:sp>
        <p:nvSpPr>
          <p:cNvPr id="27" name="Text 19"/>
          <p:cNvSpPr txBox="1"/>
          <p:nvPr/>
        </p:nvSpPr>
        <p:spPr>
          <a:xfrm>
            <a:off x="6903720" y="5111496"/>
            <a:ext cx="4663440" cy="365760"/>
          </a:xfrm>
          <a:prstGeom prst="rect">
            <a:avLst/>
          </a:prstGeom>
          <a:noFill/>
          <a:ln/>
        </p:spPr>
        <p:txBody>
          <a:bodyPr wrap="square" lIns="0" tIns="0" rIns="0" bIns="0" rtlCol="0" anchor="t"/>
          <a:lstStyle/>
          <a:p>
            <a:pPr indent="0" marL="0">
              <a:buNone/>
            </a:pPr>
            <a:r>
              <a:rPr lang="en-US" sz="1400" dirty="0">
                <a:solidFill>
                  <a:srgbClr val="5A6577"/>
                </a:solidFill>
              </a:rPr>
              <a:t>on-device AI that doesn't throttle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Not just the camera: any AI that runs for a long time</a:t>
            </a:r>
            <a:endParaRPr lang="en-US" sz="3200" dirty="0"/>
          </a:p>
        </p:txBody>
      </p:sp>
      <p:sp>
        <p:nvSpPr>
          <p:cNvPr id="3" name="roadmap 1"/>
          <p:cNvSpPr/>
          <p:nvPr/>
        </p:nvSpPr>
        <p:spPr>
          <a:xfrm>
            <a:off x="548640" y="1371600"/>
            <a:ext cx="2606040" cy="2651760"/>
          </a:xfrm>
          <a:prstGeom prst="roundRect">
            <a:avLst>
              <a:gd name="adj" fmla="val 4211"/>
            </a:avLst>
          </a:prstGeom>
          <a:solidFill>
            <a:schemeClr val="bg2"/>
          </a:solidFill>
          <a:ln/>
        </p:spPr>
      </p:sp>
      <p:sp>
        <p:nvSpPr>
          <p:cNvPr id="4" name="icon circle"/>
          <p:cNvSpPr/>
          <p:nvPr/>
        </p:nvSpPr>
        <p:spPr>
          <a:xfrm>
            <a:off x="822960" y="1645920"/>
            <a:ext cx="594360" cy="594360"/>
          </a:xfrm>
          <a:prstGeom prst="ellipse">
            <a:avLst/>
          </a:prstGeom>
          <a:solidFill>
            <a:srgbClr val="1A5CFF"/>
          </a:solidFill>
          <a:ln/>
        </p:spPr>
      </p:sp>
      <p:pic>
        <p:nvPicPr>
          <p:cNvPr id="5" name="icon FaComments" descr="preencoded.png">    </p:cNvPr>
          <p:cNvPicPr>
            <a:picLocks noChangeAspect="1"/>
          </p:cNvPicPr>
          <p:nvPr/>
        </p:nvPicPr>
        <p:blipFill>
          <a:blip r:embed="rId1"/>
          <a:stretch>
            <a:fillRect/>
          </a:stretch>
        </p:blipFill>
        <p:spPr>
          <a:xfrm>
            <a:off x="971550" y="1794510"/>
            <a:ext cx="297180" cy="297180"/>
          </a:xfrm>
          <a:prstGeom prst="rect">
            <a:avLst/>
          </a:prstGeom>
        </p:spPr>
      </p:pic>
      <p:sp>
        <p:nvSpPr>
          <p:cNvPr id="6" name="Text 3"/>
          <p:cNvSpPr txBox="1"/>
          <p:nvPr/>
        </p:nvSpPr>
        <p:spPr>
          <a:xfrm>
            <a:off x="1965960" y="1783080"/>
            <a:ext cx="914400" cy="274320"/>
          </a:xfrm>
          <a:prstGeom prst="rect">
            <a:avLst/>
          </a:prstGeom>
          <a:noFill/>
          <a:ln/>
        </p:spPr>
        <p:txBody>
          <a:bodyPr wrap="square" lIns="0" tIns="0" rIns="0" bIns="0" rtlCol="0" anchor="t"/>
          <a:lstStyle/>
          <a:p>
            <a:pPr algn="r" indent="0" marL="0">
              <a:buNone/>
            </a:pPr>
            <a:r>
              <a:rPr lang="en-US" sz="1100" b="1" spc="100" kern="0" dirty="0">
                <a:solidFill>
                  <a:srgbClr val="5A6577"/>
                </a:solidFill>
              </a:rPr>
              <a:t>NEXT 1</a:t>
            </a:r>
            <a:endParaRPr lang="en-US" sz="1100" dirty="0"/>
          </a:p>
        </p:txBody>
      </p:sp>
      <p:sp>
        <p:nvSpPr>
          <p:cNvPr id="7" name="Text 4"/>
          <p:cNvSpPr txBox="1"/>
          <p:nvPr/>
        </p:nvSpPr>
        <p:spPr>
          <a:xfrm>
            <a:off x="822960" y="2423160"/>
            <a:ext cx="2148840" cy="365760"/>
          </a:xfrm>
          <a:prstGeom prst="rect">
            <a:avLst/>
          </a:prstGeom>
          <a:noFill/>
          <a:ln/>
        </p:spPr>
        <p:txBody>
          <a:bodyPr wrap="square" lIns="0" tIns="0" rIns="0" bIns="0" rtlCol="0" anchor="t"/>
          <a:lstStyle/>
          <a:p>
            <a:pPr indent="0" marL="0">
              <a:buNone/>
            </a:pPr>
            <a:r>
              <a:rPr lang="en-US" sz="1800" b="1" dirty="0">
                <a:solidFill>
                  <a:schemeClr val="tx1"/>
                </a:solidFill>
              </a:rPr>
              <a:t>Local chatbots</a:t>
            </a:r>
            <a:endParaRPr lang="en-US" sz="1800" dirty="0"/>
          </a:p>
        </p:txBody>
      </p:sp>
      <p:sp>
        <p:nvSpPr>
          <p:cNvPr id="8" name="Text 5"/>
          <p:cNvSpPr txBox="1"/>
          <p:nvPr/>
        </p:nvSpPr>
        <p:spPr>
          <a:xfrm>
            <a:off x="822960" y="2834640"/>
            <a:ext cx="2148840" cy="1005840"/>
          </a:xfrm>
          <a:prstGeom prst="rect">
            <a:avLst/>
          </a:prstGeom>
          <a:noFill/>
          <a:ln/>
        </p:spPr>
        <p:txBody>
          <a:bodyPr wrap="square" lIns="0" tIns="0" rIns="0" bIns="0" rtlCol="0" anchor="t"/>
          <a:lstStyle/>
          <a:p>
            <a:pPr indent="0" marL="0">
              <a:buNone/>
            </a:pPr>
            <a:r>
              <a:rPr lang="en-US" sz="1400" dirty="0">
                <a:solidFill>
                  <a:srgbClr val="5A6577"/>
                </a:solidFill>
              </a:rPr>
              <a:t>model size, tokens per second, screen and voice as chiplets</a:t>
            </a:r>
            <a:endParaRPr lang="en-US" sz="1400" dirty="0"/>
          </a:p>
        </p:txBody>
      </p:sp>
      <p:sp>
        <p:nvSpPr>
          <p:cNvPr id="9" name="roadmap 2"/>
          <p:cNvSpPr/>
          <p:nvPr/>
        </p:nvSpPr>
        <p:spPr>
          <a:xfrm>
            <a:off x="3367735" y="1371600"/>
            <a:ext cx="2606040" cy="2651760"/>
          </a:xfrm>
          <a:prstGeom prst="roundRect">
            <a:avLst>
              <a:gd name="adj" fmla="val 4211"/>
            </a:avLst>
          </a:prstGeom>
          <a:solidFill>
            <a:schemeClr val="bg2"/>
          </a:solidFill>
          <a:ln/>
        </p:spPr>
      </p:sp>
      <p:sp>
        <p:nvSpPr>
          <p:cNvPr id="10" name="icon circle"/>
          <p:cNvSpPr/>
          <p:nvPr/>
        </p:nvSpPr>
        <p:spPr>
          <a:xfrm>
            <a:off x="3642055" y="1645920"/>
            <a:ext cx="594360" cy="594360"/>
          </a:xfrm>
          <a:prstGeom prst="ellipse">
            <a:avLst/>
          </a:prstGeom>
          <a:solidFill>
            <a:srgbClr val="1A5CFF"/>
          </a:solidFill>
          <a:ln/>
        </p:spPr>
      </p:sp>
      <p:pic>
        <p:nvPicPr>
          <p:cNvPr id="11" name="icon FaGamepad" descr="preencoded.png">    </p:cNvPr>
          <p:cNvPicPr>
            <a:picLocks noChangeAspect="1"/>
          </p:cNvPicPr>
          <p:nvPr/>
        </p:nvPicPr>
        <p:blipFill>
          <a:blip r:embed="rId2"/>
          <a:stretch>
            <a:fillRect/>
          </a:stretch>
        </p:blipFill>
        <p:spPr>
          <a:xfrm>
            <a:off x="3790645" y="1794510"/>
            <a:ext cx="297180" cy="297180"/>
          </a:xfrm>
          <a:prstGeom prst="rect">
            <a:avLst/>
          </a:prstGeom>
        </p:spPr>
      </p:pic>
      <p:sp>
        <p:nvSpPr>
          <p:cNvPr id="12" name="Text 8"/>
          <p:cNvSpPr txBox="1"/>
          <p:nvPr/>
        </p:nvSpPr>
        <p:spPr>
          <a:xfrm>
            <a:off x="4785055" y="1783080"/>
            <a:ext cx="914400" cy="274320"/>
          </a:xfrm>
          <a:prstGeom prst="rect">
            <a:avLst/>
          </a:prstGeom>
          <a:noFill/>
          <a:ln/>
        </p:spPr>
        <p:txBody>
          <a:bodyPr wrap="square" lIns="0" tIns="0" rIns="0" bIns="0" rtlCol="0" anchor="t"/>
          <a:lstStyle/>
          <a:p>
            <a:pPr algn="r" indent="0" marL="0">
              <a:buNone/>
            </a:pPr>
            <a:r>
              <a:rPr lang="en-US" sz="1100" b="1" spc="100" kern="0" dirty="0">
                <a:solidFill>
                  <a:srgbClr val="5A6577"/>
                </a:solidFill>
              </a:rPr>
              <a:t>NEXT 2</a:t>
            </a:r>
            <a:endParaRPr lang="en-US" sz="1100" dirty="0"/>
          </a:p>
        </p:txBody>
      </p:sp>
      <p:sp>
        <p:nvSpPr>
          <p:cNvPr id="13" name="Text 9"/>
          <p:cNvSpPr txBox="1"/>
          <p:nvPr/>
        </p:nvSpPr>
        <p:spPr>
          <a:xfrm>
            <a:off x="3642055" y="2423160"/>
            <a:ext cx="2148840" cy="365760"/>
          </a:xfrm>
          <a:prstGeom prst="rect">
            <a:avLst/>
          </a:prstGeom>
          <a:noFill/>
          <a:ln/>
        </p:spPr>
        <p:txBody>
          <a:bodyPr wrap="square" lIns="0" tIns="0" rIns="0" bIns="0" rtlCol="0" anchor="t"/>
          <a:lstStyle/>
          <a:p>
            <a:pPr indent="0" marL="0">
              <a:buNone/>
            </a:pPr>
            <a:r>
              <a:rPr lang="en-US" sz="1800" b="1" dirty="0">
                <a:solidFill>
                  <a:schemeClr val="tx1"/>
                </a:solidFill>
              </a:rPr>
              <a:t>Games</a:t>
            </a:r>
            <a:endParaRPr lang="en-US" sz="1800" dirty="0"/>
          </a:p>
        </p:txBody>
      </p:sp>
      <p:sp>
        <p:nvSpPr>
          <p:cNvPr id="14" name="Text 10"/>
          <p:cNvSpPr txBox="1"/>
          <p:nvPr/>
        </p:nvSpPr>
        <p:spPr>
          <a:xfrm>
            <a:off x="3642055" y="2834640"/>
            <a:ext cx="2148840" cy="1005840"/>
          </a:xfrm>
          <a:prstGeom prst="rect">
            <a:avLst/>
          </a:prstGeom>
          <a:noFill/>
          <a:ln/>
        </p:spPr>
        <p:txBody>
          <a:bodyPr wrap="square" lIns="0" tIns="0" rIns="0" bIns="0" rtlCol="0" anchor="t"/>
          <a:lstStyle/>
          <a:p>
            <a:pPr indent="0" marL="0">
              <a:buNone/>
            </a:pPr>
            <a:r>
              <a:rPr lang="en-US" sz="1400" dirty="0">
                <a:solidFill>
                  <a:srgbClr val="5A6577"/>
                </a:solidFill>
              </a:rPr>
              <a:t>steady frame rates by balancing game AI and effects</a:t>
            </a:r>
            <a:endParaRPr lang="en-US" sz="1400" dirty="0"/>
          </a:p>
        </p:txBody>
      </p:sp>
      <p:sp>
        <p:nvSpPr>
          <p:cNvPr id="15" name="roadmap 3"/>
          <p:cNvSpPr/>
          <p:nvPr/>
        </p:nvSpPr>
        <p:spPr>
          <a:xfrm>
            <a:off x="6186830" y="1371600"/>
            <a:ext cx="2606040" cy="2651760"/>
          </a:xfrm>
          <a:prstGeom prst="roundRect">
            <a:avLst>
              <a:gd name="adj" fmla="val 4211"/>
            </a:avLst>
          </a:prstGeom>
          <a:solidFill>
            <a:schemeClr val="bg2"/>
          </a:solidFill>
          <a:ln/>
        </p:spPr>
      </p:sp>
      <p:sp>
        <p:nvSpPr>
          <p:cNvPr id="16" name="icon circle"/>
          <p:cNvSpPr/>
          <p:nvPr/>
        </p:nvSpPr>
        <p:spPr>
          <a:xfrm>
            <a:off x="6461150" y="1645920"/>
            <a:ext cx="594360" cy="594360"/>
          </a:xfrm>
          <a:prstGeom prst="ellipse">
            <a:avLst/>
          </a:prstGeom>
          <a:solidFill>
            <a:srgbClr val="1A5CFF"/>
          </a:solidFill>
          <a:ln/>
        </p:spPr>
      </p:sp>
      <p:pic>
        <p:nvPicPr>
          <p:cNvPr id="17" name="icon FaMicrochip" descr="preencoded.png">    </p:cNvPr>
          <p:cNvPicPr>
            <a:picLocks noChangeAspect="1"/>
          </p:cNvPicPr>
          <p:nvPr/>
        </p:nvPicPr>
        <p:blipFill>
          <a:blip r:embed="rId3"/>
          <a:stretch>
            <a:fillRect/>
          </a:stretch>
        </p:blipFill>
        <p:spPr>
          <a:xfrm>
            <a:off x="6609740" y="1794510"/>
            <a:ext cx="297180" cy="297180"/>
          </a:xfrm>
          <a:prstGeom prst="rect">
            <a:avLst/>
          </a:prstGeom>
        </p:spPr>
      </p:pic>
      <p:sp>
        <p:nvSpPr>
          <p:cNvPr id="18" name="Text 13"/>
          <p:cNvSpPr txBox="1"/>
          <p:nvPr/>
        </p:nvSpPr>
        <p:spPr>
          <a:xfrm>
            <a:off x="7604150" y="1783080"/>
            <a:ext cx="914400" cy="274320"/>
          </a:xfrm>
          <a:prstGeom prst="rect">
            <a:avLst/>
          </a:prstGeom>
          <a:noFill/>
          <a:ln/>
        </p:spPr>
        <p:txBody>
          <a:bodyPr wrap="square" lIns="0" tIns="0" rIns="0" bIns="0" rtlCol="0" anchor="t"/>
          <a:lstStyle/>
          <a:p>
            <a:pPr algn="r" indent="0" marL="0">
              <a:buNone/>
            </a:pPr>
            <a:r>
              <a:rPr lang="en-US" sz="1100" b="1" spc="100" kern="0" dirty="0">
                <a:solidFill>
                  <a:srgbClr val="5A6577"/>
                </a:solidFill>
              </a:rPr>
              <a:t>NEXT 3</a:t>
            </a:r>
            <a:endParaRPr lang="en-US" sz="1100" dirty="0"/>
          </a:p>
        </p:txBody>
      </p:sp>
      <p:sp>
        <p:nvSpPr>
          <p:cNvPr id="19" name="Text 14"/>
          <p:cNvSpPr txBox="1"/>
          <p:nvPr/>
        </p:nvSpPr>
        <p:spPr>
          <a:xfrm>
            <a:off x="6461150" y="2423160"/>
            <a:ext cx="2148840" cy="365760"/>
          </a:xfrm>
          <a:prstGeom prst="rect">
            <a:avLst/>
          </a:prstGeom>
          <a:noFill/>
          <a:ln/>
        </p:spPr>
        <p:txBody>
          <a:bodyPr wrap="square" lIns="0" tIns="0" rIns="0" bIns="0" rtlCol="0" anchor="t"/>
          <a:lstStyle/>
          <a:p>
            <a:pPr indent="0" marL="0">
              <a:buNone/>
            </a:pPr>
            <a:r>
              <a:rPr lang="en-US" sz="1800" b="1" dirty="0">
                <a:solidFill>
                  <a:schemeClr val="tx1"/>
                </a:solidFill>
              </a:rPr>
              <a:t>The NPU</a:t>
            </a:r>
            <a:endParaRPr lang="en-US" sz="1800" dirty="0"/>
          </a:p>
        </p:txBody>
      </p:sp>
      <p:sp>
        <p:nvSpPr>
          <p:cNvPr id="20" name="Text 15"/>
          <p:cNvSpPr txBox="1"/>
          <p:nvPr/>
        </p:nvSpPr>
        <p:spPr>
          <a:xfrm>
            <a:off x="6461150" y="2834640"/>
            <a:ext cx="2148840" cy="1005840"/>
          </a:xfrm>
          <a:prstGeom prst="rect">
            <a:avLst/>
          </a:prstGeom>
          <a:noFill/>
          <a:ln/>
        </p:spPr>
        <p:txBody>
          <a:bodyPr wrap="square" lIns="0" tIns="0" rIns="0" bIns="0" rtlCol="0" anchor="t"/>
          <a:lstStyle/>
          <a:p>
            <a:pPr indent="0" marL="0">
              <a:buNone/>
            </a:pPr>
            <a:r>
              <a:rPr lang="en-US" sz="1400" dirty="0">
                <a:solidFill>
                  <a:srgbClr val="5A6577"/>
                </a:solidFill>
              </a:rPr>
              <a:t>one more Inference profile the Weaver can choose</a:t>
            </a:r>
            <a:endParaRPr lang="en-US" sz="1400" dirty="0"/>
          </a:p>
        </p:txBody>
      </p:sp>
      <p:sp>
        <p:nvSpPr>
          <p:cNvPr id="21" name="roadmap 4"/>
          <p:cNvSpPr/>
          <p:nvPr/>
        </p:nvSpPr>
        <p:spPr>
          <a:xfrm>
            <a:off x="9005926" y="1371600"/>
            <a:ext cx="2606040" cy="2651760"/>
          </a:xfrm>
          <a:prstGeom prst="roundRect">
            <a:avLst>
              <a:gd name="adj" fmla="val 4211"/>
            </a:avLst>
          </a:prstGeom>
          <a:solidFill>
            <a:schemeClr val="bg2"/>
          </a:solidFill>
          <a:ln/>
        </p:spPr>
      </p:sp>
      <p:sp>
        <p:nvSpPr>
          <p:cNvPr id="22" name="icon circle"/>
          <p:cNvSpPr/>
          <p:nvPr/>
        </p:nvSpPr>
        <p:spPr>
          <a:xfrm>
            <a:off x="9280246" y="1645920"/>
            <a:ext cx="594360" cy="594360"/>
          </a:xfrm>
          <a:prstGeom prst="ellipse">
            <a:avLst/>
          </a:prstGeom>
          <a:solidFill>
            <a:srgbClr val="1A5CFF"/>
          </a:solidFill>
          <a:ln/>
        </p:spPr>
      </p:sp>
      <p:pic>
        <p:nvPicPr>
          <p:cNvPr id="23" name="icon FaMobileAlt" descr="preencoded.png">    </p:cNvPr>
          <p:cNvPicPr>
            <a:picLocks noChangeAspect="1"/>
          </p:cNvPicPr>
          <p:nvPr/>
        </p:nvPicPr>
        <p:blipFill>
          <a:blip r:embed="rId4"/>
          <a:stretch>
            <a:fillRect/>
          </a:stretch>
        </p:blipFill>
        <p:spPr>
          <a:xfrm>
            <a:off x="9428836" y="1794510"/>
            <a:ext cx="297180" cy="297180"/>
          </a:xfrm>
          <a:prstGeom prst="rect">
            <a:avLst/>
          </a:prstGeom>
        </p:spPr>
      </p:pic>
      <p:sp>
        <p:nvSpPr>
          <p:cNvPr id="24" name="Text 18"/>
          <p:cNvSpPr txBox="1"/>
          <p:nvPr/>
        </p:nvSpPr>
        <p:spPr>
          <a:xfrm>
            <a:off x="10423246" y="1783080"/>
            <a:ext cx="914400" cy="274320"/>
          </a:xfrm>
          <a:prstGeom prst="rect">
            <a:avLst/>
          </a:prstGeom>
          <a:noFill/>
          <a:ln/>
        </p:spPr>
        <p:txBody>
          <a:bodyPr wrap="square" lIns="0" tIns="0" rIns="0" bIns="0" rtlCol="0" anchor="t"/>
          <a:lstStyle/>
          <a:p>
            <a:pPr algn="r" indent="0" marL="0">
              <a:buNone/>
            </a:pPr>
            <a:r>
              <a:rPr lang="en-US" sz="1100" b="1" spc="100" kern="0" dirty="0">
                <a:solidFill>
                  <a:srgbClr val="5A6577"/>
                </a:solidFill>
              </a:rPr>
              <a:t>NEXT 4</a:t>
            </a:r>
            <a:endParaRPr lang="en-US" sz="1100" dirty="0"/>
          </a:p>
        </p:txBody>
      </p:sp>
      <p:sp>
        <p:nvSpPr>
          <p:cNvPr id="25" name="Text 19"/>
          <p:cNvSpPr txBox="1"/>
          <p:nvPr/>
        </p:nvSpPr>
        <p:spPr>
          <a:xfrm>
            <a:off x="9280246" y="2423160"/>
            <a:ext cx="2148840" cy="365760"/>
          </a:xfrm>
          <a:prstGeom prst="rect">
            <a:avLst/>
          </a:prstGeom>
          <a:noFill/>
          <a:ln/>
        </p:spPr>
        <p:txBody>
          <a:bodyPr wrap="square" lIns="0" tIns="0" rIns="0" bIns="0" rtlCol="0" anchor="t"/>
          <a:lstStyle/>
          <a:p>
            <a:pPr indent="0" marL="0">
              <a:buNone/>
            </a:pPr>
            <a:r>
              <a:rPr lang="en-US" sz="1800" b="1" dirty="0">
                <a:solidFill>
                  <a:schemeClr val="tx1"/>
                </a:solidFill>
              </a:rPr>
              <a:t>An OS service</a:t>
            </a:r>
            <a:endParaRPr lang="en-US" sz="1800" dirty="0"/>
          </a:p>
        </p:txBody>
      </p:sp>
      <p:sp>
        <p:nvSpPr>
          <p:cNvPr id="26" name="Text 20"/>
          <p:cNvSpPr txBox="1"/>
          <p:nvPr/>
        </p:nvSpPr>
        <p:spPr>
          <a:xfrm>
            <a:off x="9280246" y="2834640"/>
            <a:ext cx="2148840" cy="1005840"/>
          </a:xfrm>
          <a:prstGeom prst="rect">
            <a:avLst/>
          </a:prstGeom>
          <a:noFill/>
          <a:ln/>
        </p:spPr>
        <p:txBody>
          <a:bodyPr wrap="square" lIns="0" tIns="0" rIns="0" bIns="0" rtlCol="0" anchor="t"/>
          <a:lstStyle/>
          <a:p>
            <a:pPr indent="0" marL="0">
              <a:buNone/>
            </a:pPr>
            <a:r>
              <a:rPr lang="en-US" sz="1400" dirty="0">
                <a:solidFill>
                  <a:srgbClr val="5A6577"/>
                </a:solidFill>
              </a:rPr>
              <a:t>built into the phone, so every app benefits</a:t>
            </a:r>
            <a:endParaRPr lang="en-US" sz="1400" dirty="0"/>
          </a:p>
        </p:txBody>
      </p:sp>
      <p:sp>
        <p:nvSpPr>
          <p:cNvPr id="27" name="Text 21"/>
          <p:cNvSpPr txBox="1"/>
          <p:nvPr/>
        </p:nvSpPr>
        <p:spPr>
          <a:xfrm>
            <a:off x="548640" y="43891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Who it's for</a:t>
            </a:r>
            <a:endParaRPr lang="en-US" sz="1800" dirty="0"/>
          </a:p>
        </p:txBody>
      </p:sp>
      <p:sp>
        <p:nvSpPr>
          <p:cNvPr id="28" name="audience 1"/>
          <p:cNvSpPr/>
          <p:nvPr/>
        </p:nvSpPr>
        <p:spPr>
          <a:xfrm>
            <a:off x="548640" y="4846320"/>
            <a:ext cx="3520440" cy="914400"/>
          </a:xfrm>
          <a:prstGeom prst="roundRect">
            <a:avLst>
              <a:gd name="adj" fmla="val 12000"/>
            </a:avLst>
          </a:prstGeom>
          <a:solidFill>
            <a:srgbClr val="E7EEFF"/>
          </a:solidFill>
          <a:ln/>
        </p:spPr>
      </p:sp>
      <p:sp>
        <p:nvSpPr>
          <p:cNvPr id="29" name="Text 23"/>
          <p:cNvSpPr txBox="1"/>
          <p:nvPr/>
        </p:nvSpPr>
        <p:spPr>
          <a:xfrm>
            <a:off x="777240" y="4846320"/>
            <a:ext cx="3108960" cy="914400"/>
          </a:xfrm>
          <a:prstGeom prst="rect">
            <a:avLst/>
          </a:prstGeom>
          <a:noFill/>
          <a:ln/>
        </p:spPr>
        <p:txBody>
          <a:bodyPr wrap="square" lIns="0" tIns="0" rIns="0" bIns="0" rtlCol="0" anchor="ctr"/>
          <a:lstStyle/>
          <a:p>
            <a:pPr indent="0" marL="0">
              <a:buNone/>
            </a:pPr>
            <a:r>
              <a:rPr lang="en-US" sz="1600" b="1" dirty="0">
                <a:solidFill>
                  <a:schemeClr val="tx1"/>
                </a:solidFill>
              </a:rPr>
              <a:t>Phone makers</a:t>
            </a:r>
            <a:endParaRPr lang="en-US" sz="1600" dirty="0"/>
          </a:p>
          <a:p>
            <a:pPr indent="0" marL="0">
              <a:buNone/>
            </a:pPr>
            <a:r>
              <a:rPr lang="en-US" sz="1300" dirty="0">
                <a:solidFill>
                  <a:srgbClr val="5A6577"/>
                </a:solidFill>
              </a:rPr>
              <a:t>like iQOO</a:t>
            </a:r>
            <a:endParaRPr lang="en-US" sz="1600" dirty="0"/>
          </a:p>
        </p:txBody>
      </p:sp>
      <p:sp>
        <p:nvSpPr>
          <p:cNvPr id="30" name="audience 2"/>
          <p:cNvSpPr/>
          <p:nvPr/>
        </p:nvSpPr>
        <p:spPr>
          <a:xfrm>
            <a:off x="4297680" y="4846320"/>
            <a:ext cx="3520440" cy="914400"/>
          </a:xfrm>
          <a:prstGeom prst="roundRect">
            <a:avLst>
              <a:gd name="adj" fmla="val 12000"/>
            </a:avLst>
          </a:prstGeom>
          <a:solidFill>
            <a:srgbClr val="E7EEFF"/>
          </a:solidFill>
          <a:ln/>
        </p:spPr>
      </p:sp>
      <p:sp>
        <p:nvSpPr>
          <p:cNvPr id="31" name="Text 25"/>
          <p:cNvSpPr txBox="1"/>
          <p:nvPr/>
        </p:nvSpPr>
        <p:spPr>
          <a:xfrm>
            <a:off x="4526280" y="4846320"/>
            <a:ext cx="3108960" cy="914400"/>
          </a:xfrm>
          <a:prstGeom prst="rect">
            <a:avLst/>
          </a:prstGeom>
          <a:noFill/>
          <a:ln/>
        </p:spPr>
        <p:txBody>
          <a:bodyPr wrap="square" lIns="0" tIns="0" rIns="0" bIns="0" rtlCol="0" anchor="ctr"/>
          <a:lstStyle/>
          <a:p>
            <a:pPr indent="0" marL="0">
              <a:buNone/>
            </a:pPr>
            <a:r>
              <a:rPr lang="en-US" sz="1600" b="1" dirty="0">
                <a:solidFill>
                  <a:schemeClr val="tx1"/>
                </a:solidFill>
              </a:rPr>
              <a:t>App developers</a:t>
            </a:r>
            <a:endParaRPr lang="en-US" sz="1600" dirty="0"/>
          </a:p>
          <a:p>
            <a:pPr indent="0" marL="0">
              <a:buNone/>
            </a:pPr>
            <a:r>
              <a:rPr lang="en-US" sz="1300" dirty="0">
                <a:solidFill>
                  <a:srgbClr val="5A6577"/>
                </a:solidFill>
              </a:rPr>
              <a:t>shipping on-device AI</a:t>
            </a:r>
            <a:endParaRPr lang="en-US" sz="1600" dirty="0"/>
          </a:p>
        </p:txBody>
      </p:sp>
      <p:sp>
        <p:nvSpPr>
          <p:cNvPr id="32" name="audience 3"/>
          <p:cNvSpPr/>
          <p:nvPr/>
        </p:nvSpPr>
        <p:spPr>
          <a:xfrm>
            <a:off x="8046720" y="4846320"/>
            <a:ext cx="3520440" cy="914400"/>
          </a:xfrm>
          <a:prstGeom prst="roundRect">
            <a:avLst>
              <a:gd name="adj" fmla="val 12000"/>
            </a:avLst>
          </a:prstGeom>
          <a:solidFill>
            <a:srgbClr val="E7EEFF"/>
          </a:solidFill>
          <a:ln/>
        </p:spPr>
      </p:sp>
      <p:sp>
        <p:nvSpPr>
          <p:cNvPr id="33" name="Text 27"/>
          <p:cNvSpPr txBox="1"/>
          <p:nvPr/>
        </p:nvSpPr>
        <p:spPr>
          <a:xfrm>
            <a:off x="8275320" y="4846320"/>
            <a:ext cx="3108960" cy="914400"/>
          </a:xfrm>
          <a:prstGeom prst="rect">
            <a:avLst/>
          </a:prstGeom>
          <a:noFill/>
          <a:ln/>
        </p:spPr>
        <p:txBody>
          <a:bodyPr wrap="square" lIns="0" tIns="0" rIns="0" bIns="0" rtlCol="0" anchor="ctr"/>
          <a:lstStyle/>
          <a:p>
            <a:pPr indent="0" marL="0">
              <a:buNone/>
            </a:pPr>
            <a:r>
              <a:rPr lang="en-US" sz="1600" b="1" dirty="0">
                <a:solidFill>
                  <a:schemeClr val="tx1"/>
                </a:solidFill>
              </a:rPr>
              <a:t>Users</a:t>
            </a:r>
            <a:endParaRPr lang="en-US" sz="1600" dirty="0"/>
          </a:p>
          <a:p>
            <a:pPr indent="0" marL="0">
              <a:buNone/>
            </a:pPr>
            <a:r>
              <a:rPr lang="en-US" sz="1300" dirty="0">
                <a:solidFill>
                  <a:srgbClr val="5A6577"/>
                </a:solidFill>
              </a:rPr>
              <a:t>who want AI that lasts all day</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we built it with</a:t>
            </a:r>
            <a:endParaRPr lang="en-US" sz="3200" dirty="0"/>
          </a:p>
        </p:txBody>
      </p:sp>
      <p:sp>
        <p:nvSpPr>
          <p:cNvPr id="3" name="stack 1"/>
          <p:cNvSpPr/>
          <p:nvPr/>
        </p:nvSpPr>
        <p:spPr>
          <a:xfrm>
            <a:off x="548640" y="1417320"/>
            <a:ext cx="3520440" cy="1965960"/>
          </a:xfrm>
          <a:prstGeom prst="roundRect">
            <a:avLst>
              <a:gd name="adj" fmla="val 5581"/>
            </a:avLst>
          </a:prstGeom>
          <a:solidFill>
            <a:schemeClr val="bg2"/>
          </a:solidFill>
          <a:ln/>
        </p:spPr>
      </p:sp>
      <p:sp>
        <p:nvSpPr>
          <p:cNvPr id="4" name="icon circle"/>
          <p:cNvSpPr/>
          <p:nvPr/>
        </p:nvSpPr>
        <p:spPr>
          <a:xfrm>
            <a:off x="822960" y="1691640"/>
            <a:ext cx="566928" cy="566928"/>
          </a:xfrm>
          <a:prstGeom prst="ellipse">
            <a:avLst/>
          </a:prstGeom>
          <a:solidFill>
            <a:srgbClr val="1A5CFF"/>
          </a:solidFill>
          <a:ln/>
        </p:spPr>
      </p:sp>
      <p:pic>
        <p:nvPicPr>
          <p:cNvPr id="5" name="icon FaMobileAlt" descr="preencoded.png">    </p:cNvPr>
          <p:cNvPicPr>
            <a:picLocks noChangeAspect="1"/>
          </p:cNvPicPr>
          <p:nvPr/>
        </p:nvPicPr>
        <p:blipFill>
          <a:blip r:embed="rId1"/>
          <a:stretch>
            <a:fillRect/>
          </a:stretch>
        </p:blipFill>
        <p:spPr>
          <a:xfrm>
            <a:off x="964692" y="1833372"/>
            <a:ext cx="283464" cy="283464"/>
          </a:xfrm>
          <a:prstGeom prst="rect">
            <a:avLst/>
          </a:prstGeom>
        </p:spPr>
      </p:pic>
      <p:sp>
        <p:nvSpPr>
          <p:cNvPr id="6" name="Text 3"/>
          <p:cNvSpPr txBox="1"/>
          <p:nvPr/>
        </p:nvSpPr>
        <p:spPr>
          <a:xfrm>
            <a:off x="822960" y="2377440"/>
            <a:ext cx="3017520" cy="365760"/>
          </a:xfrm>
          <a:prstGeom prst="rect">
            <a:avLst/>
          </a:prstGeom>
          <a:noFill/>
          <a:ln/>
        </p:spPr>
        <p:txBody>
          <a:bodyPr wrap="square" lIns="0" tIns="0" rIns="0" bIns="0" rtlCol="0" anchor="t"/>
          <a:lstStyle/>
          <a:p>
            <a:pPr indent="0" marL="0">
              <a:buNone/>
            </a:pPr>
            <a:r>
              <a:rPr lang="en-US" sz="1800" b="1" dirty="0">
                <a:solidFill>
                  <a:schemeClr val="tx1"/>
                </a:solidFill>
              </a:rPr>
              <a:t>Phone app</a:t>
            </a:r>
            <a:endParaRPr lang="en-US" sz="1800" dirty="0"/>
          </a:p>
        </p:txBody>
      </p:sp>
      <p:sp>
        <p:nvSpPr>
          <p:cNvPr id="7" name="Text 4"/>
          <p:cNvSpPr txBox="1"/>
          <p:nvPr/>
        </p:nvSpPr>
        <p:spPr>
          <a:xfrm>
            <a:off x="822960" y="2743200"/>
            <a:ext cx="3017520" cy="548640"/>
          </a:xfrm>
          <a:prstGeom prst="rect">
            <a:avLst/>
          </a:prstGeom>
          <a:noFill/>
          <a:ln/>
        </p:spPr>
        <p:txBody>
          <a:bodyPr wrap="square" lIns="0" tIns="0" rIns="0" bIns="0" rtlCol="0" anchor="t"/>
          <a:lstStyle/>
          <a:p>
            <a:pPr indent="0" marL="0">
              <a:buNone/>
            </a:pPr>
            <a:r>
              <a:rPr lang="en-US" sz="1400" dirty="0">
                <a:solidFill>
                  <a:srgbClr val="5A6577"/>
                </a:solidFill>
              </a:rPr>
              <a:t>Kotlin · Jetpack Compose · Android 11+</a:t>
            </a:r>
            <a:endParaRPr lang="en-US" sz="1400" dirty="0"/>
          </a:p>
        </p:txBody>
      </p:sp>
      <p:sp>
        <p:nvSpPr>
          <p:cNvPr id="8" name="stack 2"/>
          <p:cNvSpPr/>
          <p:nvPr/>
        </p:nvSpPr>
        <p:spPr>
          <a:xfrm>
            <a:off x="4297680" y="1417320"/>
            <a:ext cx="3520440" cy="1965960"/>
          </a:xfrm>
          <a:prstGeom prst="roundRect">
            <a:avLst>
              <a:gd name="adj" fmla="val 5581"/>
            </a:avLst>
          </a:prstGeom>
          <a:solidFill>
            <a:schemeClr val="bg2"/>
          </a:solidFill>
          <a:ln/>
        </p:spPr>
      </p:sp>
      <p:sp>
        <p:nvSpPr>
          <p:cNvPr id="9" name="icon circle"/>
          <p:cNvSpPr/>
          <p:nvPr/>
        </p:nvSpPr>
        <p:spPr>
          <a:xfrm>
            <a:off x="4572000" y="1691640"/>
            <a:ext cx="566928" cy="566928"/>
          </a:xfrm>
          <a:prstGeom prst="ellipse">
            <a:avLst/>
          </a:prstGeom>
          <a:solidFill>
            <a:srgbClr val="0A8FC2"/>
          </a:solidFill>
          <a:ln/>
        </p:spPr>
      </p:sp>
      <p:pic>
        <p:nvPicPr>
          <p:cNvPr id="10" name="icon FaCamera" descr="preencoded.png">    </p:cNvPr>
          <p:cNvPicPr>
            <a:picLocks noChangeAspect="1"/>
          </p:cNvPicPr>
          <p:nvPr/>
        </p:nvPicPr>
        <p:blipFill>
          <a:blip r:embed="rId2"/>
          <a:stretch>
            <a:fillRect/>
          </a:stretch>
        </p:blipFill>
        <p:spPr>
          <a:xfrm>
            <a:off x="4713732" y="1833372"/>
            <a:ext cx="283464" cy="283464"/>
          </a:xfrm>
          <a:prstGeom prst="rect">
            <a:avLst/>
          </a:prstGeom>
        </p:spPr>
      </p:pic>
      <p:sp>
        <p:nvSpPr>
          <p:cNvPr id="11" name="Text 7"/>
          <p:cNvSpPr txBox="1"/>
          <p:nvPr/>
        </p:nvSpPr>
        <p:spPr>
          <a:xfrm>
            <a:off x="4572000" y="2377440"/>
            <a:ext cx="3017520" cy="365760"/>
          </a:xfrm>
          <a:prstGeom prst="rect">
            <a:avLst/>
          </a:prstGeom>
          <a:noFill/>
          <a:ln/>
        </p:spPr>
        <p:txBody>
          <a:bodyPr wrap="square" lIns="0" tIns="0" rIns="0" bIns="0" rtlCol="0" anchor="t"/>
          <a:lstStyle/>
          <a:p>
            <a:pPr indent="0" marL="0">
              <a:buNone/>
            </a:pPr>
            <a:r>
              <a:rPr lang="en-US" sz="1800" b="1" dirty="0">
                <a:solidFill>
                  <a:schemeClr val="tx1"/>
                </a:solidFill>
              </a:rPr>
              <a:t>Camera</a:t>
            </a:r>
            <a:endParaRPr lang="en-US" sz="1800" dirty="0"/>
          </a:p>
        </p:txBody>
      </p:sp>
      <p:sp>
        <p:nvSpPr>
          <p:cNvPr id="12" name="Text 8"/>
          <p:cNvSpPr txBox="1"/>
          <p:nvPr/>
        </p:nvSpPr>
        <p:spPr>
          <a:xfrm>
            <a:off x="4572000" y="2743200"/>
            <a:ext cx="3017520" cy="548640"/>
          </a:xfrm>
          <a:prstGeom prst="rect">
            <a:avLst/>
          </a:prstGeom>
          <a:noFill/>
          <a:ln/>
        </p:spPr>
        <p:txBody>
          <a:bodyPr wrap="square" lIns="0" tIns="0" rIns="0" bIns="0" rtlCol="0" anchor="t"/>
          <a:lstStyle/>
          <a:p>
            <a:pPr indent="0" marL="0">
              <a:buNone/>
            </a:pPr>
            <a:r>
              <a:rPr lang="en-US" sz="1400" dirty="0">
                <a:solidFill>
                  <a:srgbClr val="5A6577"/>
                </a:solidFill>
              </a:rPr>
              <a:t>CameraX + Camera2 frame-rate control</a:t>
            </a:r>
            <a:endParaRPr lang="en-US" sz="1400" dirty="0"/>
          </a:p>
        </p:txBody>
      </p:sp>
      <p:sp>
        <p:nvSpPr>
          <p:cNvPr id="13" name="stack 3"/>
          <p:cNvSpPr/>
          <p:nvPr/>
        </p:nvSpPr>
        <p:spPr>
          <a:xfrm>
            <a:off x="8046720" y="1417320"/>
            <a:ext cx="3520440" cy="1965960"/>
          </a:xfrm>
          <a:prstGeom prst="roundRect">
            <a:avLst>
              <a:gd name="adj" fmla="val 5581"/>
            </a:avLst>
          </a:prstGeom>
          <a:solidFill>
            <a:schemeClr val="bg2"/>
          </a:solidFill>
          <a:ln/>
        </p:spPr>
      </p:sp>
      <p:sp>
        <p:nvSpPr>
          <p:cNvPr id="14" name="icon circle"/>
          <p:cNvSpPr/>
          <p:nvPr/>
        </p:nvSpPr>
        <p:spPr>
          <a:xfrm>
            <a:off x="8321040" y="1691640"/>
            <a:ext cx="566928" cy="566928"/>
          </a:xfrm>
          <a:prstGeom prst="ellipse">
            <a:avLst/>
          </a:prstGeom>
          <a:solidFill>
            <a:srgbClr val="0A8FC2"/>
          </a:solidFill>
          <a:ln/>
        </p:spPr>
      </p:sp>
      <p:pic>
        <p:nvPicPr>
          <p:cNvPr id="15" name="icon FaBrain" descr="preencoded.png">    </p:cNvPr>
          <p:cNvPicPr>
            <a:picLocks noChangeAspect="1"/>
          </p:cNvPicPr>
          <p:nvPr/>
        </p:nvPicPr>
        <p:blipFill>
          <a:blip r:embed="rId3"/>
          <a:stretch>
            <a:fillRect/>
          </a:stretch>
        </p:blipFill>
        <p:spPr>
          <a:xfrm>
            <a:off x="8462772" y="1833372"/>
            <a:ext cx="283464" cy="283464"/>
          </a:xfrm>
          <a:prstGeom prst="rect">
            <a:avLst/>
          </a:prstGeom>
        </p:spPr>
      </p:pic>
      <p:sp>
        <p:nvSpPr>
          <p:cNvPr id="16" name="Text 11"/>
          <p:cNvSpPr txBox="1"/>
          <p:nvPr/>
        </p:nvSpPr>
        <p:spPr>
          <a:xfrm>
            <a:off x="8321040" y="2377440"/>
            <a:ext cx="3017520" cy="365760"/>
          </a:xfrm>
          <a:prstGeom prst="rect">
            <a:avLst/>
          </a:prstGeom>
          <a:noFill/>
          <a:ln/>
        </p:spPr>
        <p:txBody>
          <a:bodyPr wrap="square" lIns="0" tIns="0" rIns="0" bIns="0" rtlCol="0" anchor="t"/>
          <a:lstStyle/>
          <a:p>
            <a:pPr indent="0" marL="0">
              <a:buNone/>
            </a:pPr>
            <a:r>
              <a:rPr lang="en-US" sz="1800" b="1" dirty="0">
                <a:solidFill>
                  <a:schemeClr val="tx1"/>
                </a:solidFill>
              </a:rPr>
              <a:t>AI</a:t>
            </a:r>
            <a:endParaRPr lang="en-US" sz="1800" dirty="0"/>
          </a:p>
        </p:txBody>
      </p:sp>
      <p:sp>
        <p:nvSpPr>
          <p:cNvPr id="17" name="Text 12"/>
          <p:cNvSpPr txBox="1"/>
          <p:nvPr/>
        </p:nvSpPr>
        <p:spPr>
          <a:xfrm>
            <a:off x="8321040" y="2743200"/>
            <a:ext cx="3017520" cy="548640"/>
          </a:xfrm>
          <a:prstGeom prst="rect">
            <a:avLst/>
          </a:prstGeom>
          <a:noFill/>
          <a:ln/>
        </p:spPr>
        <p:txBody>
          <a:bodyPr wrap="square" lIns="0" tIns="0" rIns="0" bIns="0" rtlCol="0" anchor="t"/>
          <a:lstStyle/>
          <a:p>
            <a:pPr indent="0" marL="0">
              <a:buNone/>
            </a:pPr>
            <a:r>
              <a:rPr lang="en-US" sz="1400" dirty="0">
                <a:solidFill>
                  <a:srgbClr val="5A6577"/>
                </a:solidFill>
              </a:rPr>
              <a:t>MediaPipe · EfficientDet Lite0 / Lite2 · GPU</a:t>
            </a:r>
            <a:endParaRPr lang="en-US" sz="1400" dirty="0"/>
          </a:p>
        </p:txBody>
      </p:sp>
      <p:sp>
        <p:nvSpPr>
          <p:cNvPr id="18" name="stack 4"/>
          <p:cNvSpPr/>
          <p:nvPr/>
        </p:nvSpPr>
        <p:spPr>
          <a:xfrm>
            <a:off x="548640" y="3657600"/>
            <a:ext cx="3520440" cy="1965960"/>
          </a:xfrm>
          <a:prstGeom prst="roundRect">
            <a:avLst>
              <a:gd name="adj" fmla="val 5581"/>
            </a:avLst>
          </a:prstGeom>
          <a:solidFill>
            <a:schemeClr val="bg2"/>
          </a:solidFill>
          <a:ln/>
        </p:spPr>
      </p:sp>
      <p:sp>
        <p:nvSpPr>
          <p:cNvPr id="19" name="icon circle"/>
          <p:cNvSpPr/>
          <p:nvPr/>
        </p:nvSpPr>
        <p:spPr>
          <a:xfrm>
            <a:off x="822960" y="3931920"/>
            <a:ext cx="566928" cy="566928"/>
          </a:xfrm>
          <a:prstGeom prst="ellipse">
            <a:avLst/>
          </a:prstGeom>
          <a:solidFill>
            <a:srgbClr val="14915F"/>
          </a:solidFill>
          <a:ln/>
        </p:spPr>
      </p:sp>
      <p:pic>
        <p:nvPicPr>
          <p:cNvPr id="20" name="icon FaThermometerHalf" descr="preencoded.png">    </p:cNvPr>
          <p:cNvPicPr>
            <a:picLocks noChangeAspect="1"/>
          </p:cNvPicPr>
          <p:nvPr/>
        </p:nvPicPr>
        <p:blipFill>
          <a:blip r:embed="rId4"/>
          <a:stretch>
            <a:fillRect/>
          </a:stretch>
        </p:blipFill>
        <p:spPr>
          <a:xfrm>
            <a:off x="964692" y="4073652"/>
            <a:ext cx="283464" cy="283464"/>
          </a:xfrm>
          <a:prstGeom prst="rect">
            <a:avLst/>
          </a:prstGeom>
        </p:spPr>
      </p:pic>
      <p:sp>
        <p:nvSpPr>
          <p:cNvPr id="21" name="Text 15"/>
          <p:cNvSpPr txBox="1"/>
          <p:nvPr/>
        </p:nvSpPr>
        <p:spPr>
          <a:xfrm>
            <a:off x="822960" y="46177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Phone signals</a:t>
            </a:r>
            <a:endParaRPr lang="en-US" sz="1800" dirty="0"/>
          </a:p>
        </p:txBody>
      </p:sp>
      <p:sp>
        <p:nvSpPr>
          <p:cNvPr id="22" name="Text 16"/>
          <p:cNvSpPr txBox="1"/>
          <p:nvPr/>
        </p:nvSpPr>
        <p:spPr>
          <a:xfrm>
            <a:off x="822960" y="4983480"/>
            <a:ext cx="3017520" cy="548640"/>
          </a:xfrm>
          <a:prstGeom prst="rect">
            <a:avLst/>
          </a:prstGeom>
          <a:noFill/>
          <a:ln/>
        </p:spPr>
        <p:txBody>
          <a:bodyPr wrap="square" lIns="0" tIns="0" rIns="0" bIns="0" rtlCol="0" anchor="t"/>
          <a:lstStyle/>
          <a:p>
            <a:pPr indent="0" marL="0">
              <a:buNone/>
            </a:pPr>
            <a:r>
              <a:rPr lang="en-US" sz="1400" dirty="0">
                <a:solidFill>
                  <a:srgbClr val="5A6577"/>
                </a:solidFill>
              </a:rPr>
              <a:t>PowerManager headroom · BatteryManager</a:t>
            </a:r>
            <a:endParaRPr lang="en-US" sz="1400" dirty="0"/>
          </a:p>
        </p:txBody>
      </p:sp>
      <p:sp>
        <p:nvSpPr>
          <p:cNvPr id="23" name="stack 5"/>
          <p:cNvSpPr/>
          <p:nvPr/>
        </p:nvSpPr>
        <p:spPr>
          <a:xfrm>
            <a:off x="4297680" y="3657600"/>
            <a:ext cx="3520440" cy="1965960"/>
          </a:xfrm>
          <a:prstGeom prst="roundRect">
            <a:avLst>
              <a:gd name="adj" fmla="val 5581"/>
            </a:avLst>
          </a:prstGeom>
          <a:solidFill>
            <a:schemeClr val="bg2"/>
          </a:solidFill>
          <a:ln/>
        </p:spPr>
      </p:sp>
      <p:sp>
        <p:nvSpPr>
          <p:cNvPr id="24" name="icon circle"/>
          <p:cNvSpPr/>
          <p:nvPr/>
        </p:nvSpPr>
        <p:spPr>
          <a:xfrm>
            <a:off x="4572000" y="3931920"/>
            <a:ext cx="566928" cy="566928"/>
          </a:xfrm>
          <a:prstGeom prst="ellipse">
            <a:avLst/>
          </a:prstGeom>
          <a:solidFill>
            <a:srgbClr val="14915F"/>
          </a:solidFill>
          <a:ln/>
        </p:spPr>
      </p:sp>
      <p:pic>
        <p:nvPicPr>
          <p:cNvPr id="25" name="icon FaChartLine" descr="preencoded.png">    </p:cNvPr>
          <p:cNvPicPr>
            <a:picLocks noChangeAspect="1"/>
          </p:cNvPicPr>
          <p:nvPr/>
        </p:nvPicPr>
        <p:blipFill>
          <a:blip r:embed="rId5"/>
          <a:stretch>
            <a:fillRect/>
          </a:stretch>
        </p:blipFill>
        <p:spPr>
          <a:xfrm>
            <a:off x="4713732" y="4073652"/>
            <a:ext cx="283464" cy="283464"/>
          </a:xfrm>
          <a:prstGeom prst="rect">
            <a:avLst/>
          </a:prstGeom>
        </p:spPr>
      </p:pic>
      <p:sp>
        <p:nvSpPr>
          <p:cNvPr id="26" name="Text 19"/>
          <p:cNvSpPr txBox="1"/>
          <p:nvPr/>
        </p:nvSpPr>
        <p:spPr>
          <a:xfrm>
            <a:off x="4572000" y="46177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Dashboard</a:t>
            </a:r>
            <a:endParaRPr lang="en-US" sz="1800" dirty="0"/>
          </a:p>
        </p:txBody>
      </p:sp>
      <p:sp>
        <p:nvSpPr>
          <p:cNvPr id="27" name="Text 20"/>
          <p:cNvSpPr txBox="1"/>
          <p:nvPr/>
        </p:nvSpPr>
        <p:spPr>
          <a:xfrm>
            <a:off x="4572000" y="4983480"/>
            <a:ext cx="3017520" cy="548640"/>
          </a:xfrm>
          <a:prstGeom prst="rect">
            <a:avLst/>
          </a:prstGeom>
          <a:noFill/>
          <a:ln/>
        </p:spPr>
        <p:txBody>
          <a:bodyPr wrap="square" lIns="0" tIns="0" rIns="0" bIns="0" rtlCol="0" anchor="t"/>
          <a:lstStyle/>
          <a:p>
            <a:pPr indent="0" marL="0">
              <a:buNone/>
            </a:pPr>
            <a:r>
              <a:rPr lang="en-US" sz="1400" dirty="0">
                <a:solidFill>
                  <a:srgbClr val="5A6577"/>
                </a:solidFill>
              </a:rPr>
              <a:t>Python server-sent events · React · adb over Wi-Fi</a:t>
            </a:r>
            <a:endParaRPr lang="en-US" sz="1400" dirty="0"/>
          </a:p>
        </p:txBody>
      </p:sp>
      <p:sp>
        <p:nvSpPr>
          <p:cNvPr id="28" name="stack 6"/>
          <p:cNvSpPr/>
          <p:nvPr/>
        </p:nvSpPr>
        <p:spPr>
          <a:xfrm>
            <a:off x="8046720" y="3657600"/>
            <a:ext cx="3520440" cy="1965960"/>
          </a:xfrm>
          <a:prstGeom prst="roundRect">
            <a:avLst>
              <a:gd name="adj" fmla="val 5581"/>
            </a:avLst>
          </a:prstGeom>
          <a:solidFill>
            <a:schemeClr val="bg2"/>
          </a:solidFill>
          <a:ln/>
        </p:spPr>
      </p:sp>
      <p:sp>
        <p:nvSpPr>
          <p:cNvPr id="29" name="icon circle"/>
          <p:cNvSpPr/>
          <p:nvPr/>
        </p:nvSpPr>
        <p:spPr>
          <a:xfrm>
            <a:off x="8321040" y="3931920"/>
            <a:ext cx="566928" cy="566928"/>
          </a:xfrm>
          <a:prstGeom prst="ellipse">
            <a:avLst/>
          </a:prstGeom>
          <a:solidFill>
            <a:srgbClr val="6B4FD8"/>
          </a:solidFill>
          <a:ln/>
        </p:spPr>
      </p:sp>
      <p:pic>
        <p:nvPicPr>
          <p:cNvPr id="30" name="icon FaAtom" descr="preencoded.png">    </p:cNvPr>
          <p:cNvPicPr>
            <a:picLocks noChangeAspect="1"/>
          </p:cNvPicPr>
          <p:nvPr/>
        </p:nvPicPr>
        <p:blipFill>
          <a:blip r:embed="rId6"/>
          <a:stretch>
            <a:fillRect/>
          </a:stretch>
        </p:blipFill>
        <p:spPr>
          <a:xfrm>
            <a:off x="8462772" y="4073652"/>
            <a:ext cx="283464" cy="283464"/>
          </a:xfrm>
          <a:prstGeom prst="rect">
            <a:avLst/>
          </a:prstGeom>
        </p:spPr>
      </p:pic>
      <p:sp>
        <p:nvSpPr>
          <p:cNvPr id="31" name="Text 23"/>
          <p:cNvSpPr txBox="1"/>
          <p:nvPr/>
        </p:nvSpPr>
        <p:spPr>
          <a:xfrm>
            <a:off x="8321040" y="46177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Quantum</a:t>
            </a:r>
            <a:endParaRPr lang="en-US" sz="1800" dirty="0"/>
          </a:p>
        </p:txBody>
      </p:sp>
      <p:sp>
        <p:nvSpPr>
          <p:cNvPr id="32" name="Text 24"/>
          <p:cNvSpPr txBox="1"/>
          <p:nvPr/>
        </p:nvSpPr>
        <p:spPr>
          <a:xfrm>
            <a:off x="8321040" y="4983480"/>
            <a:ext cx="3017520" cy="548640"/>
          </a:xfrm>
          <a:prstGeom prst="rect">
            <a:avLst/>
          </a:prstGeom>
          <a:noFill/>
          <a:ln/>
        </p:spPr>
        <p:txBody>
          <a:bodyPr wrap="square" lIns="0" tIns="0" rIns="0" bIns="0" rtlCol="0" anchor="t"/>
          <a:lstStyle/>
          <a:p>
            <a:pPr indent="0" marL="0">
              <a:buNone/>
            </a:pPr>
            <a:r>
              <a:rPr lang="en-US" sz="1400" dirty="0">
                <a:solidFill>
                  <a:srgbClr val="5A6577"/>
                </a:solidFill>
              </a:rPr>
              <a:t>Qiskit · QUBO · QAOA · brute-force check</a:t>
            </a:r>
            <a:endParaRPr lang="en-US" sz="1400" dirty="0"/>
          </a:p>
        </p:txBody>
      </p:sp>
      <p:sp>
        <p:nvSpPr>
          <p:cNvPr id="33" name="Text 25"/>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500" b="1" dirty="0">
                <a:solidFill>
                  <a:schemeClr val="accent1"/>
                </a:solidFill>
              </a:rPr>
              <a:t>No root, no OS changes, no network permission in the app: it works fully offline.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5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nfinity mark" descr="inf.png">    </p:cNvPr>
          <p:cNvPicPr>
            <a:picLocks noChangeAspect="1"/>
          </p:cNvPicPr>
          <p:nvPr/>
        </p:nvPicPr>
        <p:blipFill>
          <a:blip r:embed="rId1"/>
          <a:stretch>
            <a:fillRect/>
          </a:stretch>
        </p:blipFill>
        <p:spPr>
          <a:xfrm>
            <a:off x="731520" y="1097280"/>
            <a:ext cx="2194560" cy="1097280"/>
          </a:xfrm>
          <a:prstGeom prst="rect">
            <a:avLst/>
          </a:prstGeom>
        </p:spPr>
      </p:pic>
      <p:sp>
        <p:nvSpPr>
          <p:cNvPr id="3" name="Text 0"/>
          <p:cNvSpPr/>
          <p:nvPr>
            <p:ph idx="100" type="title" hasCustomPrompt="1"/>
          </p:nvPr>
        </p:nvSpPr>
        <p:spPr>
          <a:xfrm>
            <a:off x="731520" y="2743200"/>
            <a:ext cx="7498080" cy="1188720"/>
          </a:xfrm>
          <a:prstGeom prst="rect">
            <a:avLst/>
          </a:prstGeom>
          <a:noFill/>
          <a:ln/>
        </p:spPr>
        <p:txBody>
          <a:bodyPr wrap="square" lIns="0" tIns="0" rIns="0" bIns="0" rtlCol="0" anchor="t"/>
          <a:lstStyle/>
          <a:p>
            <a:pPr algn="l" indent="0" marL="0">
              <a:buNone/>
            </a:pPr>
            <a:r>
              <a:rPr lang="en-US" sz="4400" b="1" dirty="0">
                <a:solidFill>
                  <a:schemeClr val="bg1"/>
                </a:solidFill>
              </a:rPr>
              <a:t>Same phone. Same job. 44% less battery.</a:t>
            </a:r>
            <a:endParaRPr lang="en-US" sz="4400" dirty="0"/>
          </a:p>
        </p:txBody>
      </p:sp>
      <p:sp>
        <p:nvSpPr>
          <p:cNvPr id="4" name="Text 1"/>
          <p:cNvSpPr txBox="1"/>
          <p:nvPr/>
        </p:nvSpPr>
        <p:spPr>
          <a:xfrm>
            <a:off x="731520" y="4343400"/>
            <a:ext cx="7498080" cy="822960"/>
          </a:xfrm>
          <a:prstGeom prst="rect">
            <a:avLst/>
          </a:prstGeom>
          <a:noFill/>
          <a:ln/>
        </p:spPr>
        <p:txBody>
          <a:bodyPr wrap="square" lIns="0" tIns="0" rIns="0" bIns="0" rtlCol="0" anchor="t"/>
          <a:lstStyle/>
          <a:p>
            <a:pPr indent="0" marL="0">
              <a:buNone/>
            </a:pPr>
            <a:r>
              <a:rPr lang="en-US" sz="1800" dirty="0">
                <a:solidFill>
                  <a:srgbClr val="C9D3E3"/>
                </a:solidFill>
              </a:rPr>
              <a:t>Virtual chiplets split the work, the Weaver keeps them in balance, and a quantum-planned policy tells it where to go.</a:t>
            </a:r>
            <a:endParaRPr lang="en-US" sz="1800" dirty="0"/>
          </a:p>
        </p:txBody>
      </p:sp>
      <p:sp>
        <p:nvSpPr>
          <p:cNvPr id="5" name="Text 2"/>
          <p:cNvSpPr txBox="1"/>
          <p:nvPr/>
        </p:nvSpPr>
        <p:spPr>
          <a:xfrm>
            <a:off x="731520" y="5669280"/>
            <a:ext cx="5486400" cy="548640"/>
          </a:xfrm>
          <a:prstGeom prst="rect">
            <a:avLst/>
          </a:prstGeom>
          <a:noFill/>
          <a:ln/>
        </p:spPr>
        <p:txBody>
          <a:bodyPr wrap="square" lIns="0" tIns="0" rIns="0" bIns="0" rtlCol="0" anchor="t"/>
          <a:lstStyle/>
          <a:p>
            <a:pPr indent="0" marL="0">
              <a:buNone/>
            </a:pPr>
            <a:r>
              <a:rPr lang="en-US" sz="2400" b="1" dirty="0">
                <a:solidFill>
                  <a:schemeClr val="accent6"/>
                </a:solidFill>
              </a:rPr>
              <a:t>Thank you</a:t>
            </a:r>
            <a:endParaRPr lang="en-US" sz="2400" dirty="0"/>
          </a:p>
        </p:txBody>
      </p:sp>
      <p:sp>
        <p:nvSpPr>
          <p:cNvPr id="6" name="closing stat 1"/>
          <p:cNvSpPr/>
          <p:nvPr/>
        </p:nvSpPr>
        <p:spPr>
          <a:xfrm>
            <a:off x="8778240" y="1463040"/>
            <a:ext cx="2834640" cy="1143000"/>
          </a:xfrm>
          <a:prstGeom prst="roundRect">
            <a:avLst>
              <a:gd name="adj" fmla="val 12000"/>
            </a:avLst>
          </a:prstGeom>
          <a:solidFill>
            <a:srgbClr val="141C33"/>
          </a:solidFill>
          <a:ln w="12700">
            <a:solidFill>
              <a:srgbClr val="2A3A66"/>
            </a:solidFill>
            <a:prstDash val="solid"/>
          </a:ln>
        </p:spPr>
      </p:sp>
      <p:sp>
        <p:nvSpPr>
          <p:cNvPr id="7" name="Text 4"/>
          <p:cNvSpPr txBox="1"/>
          <p:nvPr/>
        </p:nvSpPr>
        <p:spPr>
          <a:xfrm>
            <a:off x="8778240" y="1627632"/>
            <a:ext cx="2834640" cy="502920"/>
          </a:xfrm>
          <a:prstGeom prst="rect">
            <a:avLst/>
          </a:prstGeom>
          <a:noFill/>
          <a:ln/>
        </p:spPr>
        <p:txBody>
          <a:bodyPr wrap="square" lIns="0" tIns="0" rIns="0" bIns="0" rtlCol="0" anchor="t"/>
          <a:lstStyle/>
          <a:p>
            <a:pPr algn="ctr" indent="0" marL="0">
              <a:buNone/>
            </a:pPr>
            <a:r>
              <a:rPr lang="en-US" sz="2400" b="1" dirty="0">
                <a:solidFill>
                  <a:schemeClr val="accent6"/>
                </a:solidFill>
                <a:latin typeface="Arial" pitchFamily="34" charset="0"/>
                <a:ea typeface="Arial" pitchFamily="34" charset="-122"/>
                <a:cs typeface="Arial" pitchFamily="34" charset="-120"/>
              </a:rPr>
              <a:t>1,048 → 586 mA</a:t>
            </a:r>
            <a:endParaRPr lang="en-US" sz="2400" dirty="0"/>
          </a:p>
        </p:txBody>
      </p:sp>
      <p:sp>
        <p:nvSpPr>
          <p:cNvPr id="8" name="Text 5"/>
          <p:cNvSpPr txBox="1"/>
          <p:nvPr/>
        </p:nvSpPr>
        <p:spPr>
          <a:xfrm>
            <a:off x="8778240" y="2148840"/>
            <a:ext cx="2834640" cy="320040"/>
          </a:xfrm>
          <a:prstGeom prst="rect">
            <a:avLst/>
          </a:prstGeom>
          <a:noFill/>
          <a:ln/>
        </p:spPr>
        <p:txBody>
          <a:bodyPr wrap="square" lIns="0" tIns="0" rIns="0" bIns="0" rtlCol="0" anchor="t"/>
          <a:lstStyle/>
          <a:p>
            <a:pPr algn="ctr" indent="0" marL="0">
              <a:buNone/>
            </a:pPr>
            <a:r>
              <a:rPr lang="en-US" sz="1300" dirty="0">
                <a:solidFill>
                  <a:srgbClr val="8A94A6"/>
                </a:solidFill>
              </a:rPr>
              <a:t>battery</a:t>
            </a:r>
            <a:endParaRPr lang="en-US" sz="1300" dirty="0"/>
          </a:p>
        </p:txBody>
      </p:sp>
      <p:sp>
        <p:nvSpPr>
          <p:cNvPr id="9" name="closing stat 2"/>
          <p:cNvSpPr/>
          <p:nvPr/>
        </p:nvSpPr>
        <p:spPr>
          <a:xfrm>
            <a:off x="8778240" y="2834640"/>
            <a:ext cx="2834640" cy="1143000"/>
          </a:xfrm>
          <a:prstGeom prst="roundRect">
            <a:avLst>
              <a:gd name="adj" fmla="val 12000"/>
            </a:avLst>
          </a:prstGeom>
          <a:solidFill>
            <a:srgbClr val="141C33"/>
          </a:solidFill>
          <a:ln w="12700">
            <a:solidFill>
              <a:srgbClr val="2A3A66"/>
            </a:solidFill>
            <a:prstDash val="solid"/>
          </a:ln>
        </p:spPr>
      </p:sp>
      <p:sp>
        <p:nvSpPr>
          <p:cNvPr id="10" name="Text 7"/>
          <p:cNvSpPr txBox="1"/>
          <p:nvPr/>
        </p:nvSpPr>
        <p:spPr>
          <a:xfrm>
            <a:off x="8778240" y="2999232"/>
            <a:ext cx="2834640" cy="502920"/>
          </a:xfrm>
          <a:prstGeom prst="rect">
            <a:avLst/>
          </a:prstGeom>
          <a:noFill/>
          <a:ln/>
        </p:spPr>
        <p:txBody>
          <a:bodyPr wrap="square" lIns="0" tIns="0" rIns="0" bIns="0" rtlCol="0" anchor="t"/>
          <a:lstStyle/>
          <a:p>
            <a:pPr algn="ctr" indent="0" marL="0">
              <a:buNone/>
            </a:pPr>
            <a:r>
              <a:rPr lang="en-US" sz="2400" b="1" dirty="0">
                <a:solidFill>
                  <a:schemeClr val="accent6"/>
                </a:solidFill>
                <a:latin typeface="Arial" pitchFamily="34" charset="0"/>
                <a:ea typeface="Arial" pitchFamily="34" charset="-122"/>
                <a:cs typeface="Arial" pitchFamily="34" charset="-120"/>
              </a:rPr>
              <a:t>0.98 → 0.85</a:t>
            </a:r>
            <a:endParaRPr lang="en-US" sz="2400" dirty="0"/>
          </a:p>
        </p:txBody>
      </p:sp>
      <p:sp>
        <p:nvSpPr>
          <p:cNvPr id="11" name="Text 8"/>
          <p:cNvSpPr txBox="1"/>
          <p:nvPr/>
        </p:nvSpPr>
        <p:spPr>
          <a:xfrm>
            <a:off x="8778240" y="3520440"/>
            <a:ext cx="2834640" cy="320040"/>
          </a:xfrm>
          <a:prstGeom prst="rect">
            <a:avLst/>
          </a:prstGeom>
          <a:noFill/>
          <a:ln/>
        </p:spPr>
        <p:txBody>
          <a:bodyPr wrap="square" lIns="0" tIns="0" rIns="0" bIns="0" rtlCol="0" anchor="t"/>
          <a:lstStyle/>
          <a:p>
            <a:pPr algn="ctr" indent="0" marL="0">
              <a:buNone/>
            </a:pPr>
            <a:r>
              <a:rPr lang="en-US" sz="1300" dirty="0">
                <a:solidFill>
                  <a:srgbClr val="8A94A6"/>
                </a:solidFill>
              </a:rPr>
              <a:t>heat</a:t>
            </a:r>
            <a:endParaRPr lang="en-US" sz="1300" dirty="0"/>
          </a:p>
        </p:txBody>
      </p:sp>
      <p:sp>
        <p:nvSpPr>
          <p:cNvPr id="12" name="closing stat 3"/>
          <p:cNvSpPr/>
          <p:nvPr/>
        </p:nvSpPr>
        <p:spPr>
          <a:xfrm>
            <a:off x="8778240" y="4206240"/>
            <a:ext cx="2834640" cy="1143000"/>
          </a:xfrm>
          <a:prstGeom prst="roundRect">
            <a:avLst>
              <a:gd name="adj" fmla="val 12000"/>
            </a:avLst>
          </a:prstGeom>
          <a:solidFill>
            <a:srgbClr val="141C33"/>
          </a:solidFill>
          <a:ln w="12700">
            <a:solidFill>
              <a:srgbClr val="2A3A66"/>
            </a:solidFill>
            <a:prstDash val="solid"/>
          </a:ln>
        </p:spPr>
      </p:sp>
      <p:sp>
        <p:nvSpPr>
          <p:cNvPr id="13" name="Text 10"/>
          <p:cNvSpPr txBox="1"/>
          <p:nvPr/>
        </p:nvSpPr>
        <p:spPr>
          <a:xfrm>
            <a:off x="8778240" y="4370832"/>
            <a:ext cx="2834640" cy="502920"/>
          </a:xfrm>
          <a:prstGeom prst="rect">
            <a:avLst/>
          </a:prstGeom>
          <a:noFill/>
          <a:ln/>
        </p:spPr>
        <p:txBody>
          <a:bodyPr wrap="square" lIns="0" tIns="0" rIns="0" bIns="0" rtlCol="0" anchor="t"/>
          <a:lstStyle/>
          <a:p>
            <a:pPr algn="ctr" indent="0" marL="0">
              <a:buNone/>
            </a:pPr>
            <a:r>
              <a:rPr lang="en-US" sz="2400" b="1" dirty="0">
                <a:solidFill>
                  <a:schemeClr val="accent6"/>
                </a:solidFill>
                <a:latin typeface="Arial" pitchFamily="34" charset="0"/>
                <a:ea typeface="Arial" pitchFamily="34" charset="-122"/>
                <a:cs typeface="Arial" pitchFamily="34" charset="-120"/>
              </a:rPr>
              <a:t>LIGHT</a:t>
            </a:r>
            <a:endParaRPr lang="en-US" sz="2400" dirty="0"/>
          </a:p>
        </p:txBody>
      </p:sp>
      <p:sp>
        <p:nvSpPr>
          <p:cNvPr id="14" name="Text 11"/>
          <p:cNvSpPr txBox="1"/>
          <p:nvPr/>
        </p:nvSpPr>
        <p:spPr>
          <a:xfrm>
            <a:off x="8778240" y="4892040"/>
            <a:ext cx="2834640" cy="320040"/>
          </a:xfrm>
          <a:prstGeom prst="rect">
            <a:avLst/>
          </a:prstGeom>
          <a:noFill/>
          <a:ln/>
        </p:spPr>
        <p:txBody>
          <a:bodyPr wrap="square" lIns="0" tIns="0" rIns="0" bIns="0" rtlCol="0" anchor="t"/>
          <a:lstStyle/>
          <a:p>
            <a:pPr algn="ctr" indent="0" marL="0">
              <a:buNone/>
            </a:pPr>
            <a:r>
              <a:rPr lang="en-US" sz="1300" dirty="0">
                <a:solidFill>
                  <a:srgbClr val="8A94A6"/>
                </a:solidFill>
              </a:rPr>
              <a:t>thermal status</a:t>
            </a:r>
            <a:endParaRPr lang="en-US" sz="1300" dirty="0"/>
          </a:p>
        </p:txBody>
      </p:sp>
    </p:spTree>
  </p:cSld>
  <p:clrMapOvr>
    <a:masterClrMapping/>
  </p:clrMapOvr>
</p:sld>
</file>

<file path=ppt/theme/theme1.xml><?xml version="1.0" encoding="utf-8"?>
<a:theme xmlns:a="http://schemas.openxmlformats.org/drawingml/2006/main" name="LOOM">
  <a:themeElements>
    <a:clrScheme name="LOOM">
      <a:dk1>
        <a:srgbClr val="1B2433"/>
      </a:dk1>
      <a:lt1>
        <a:srgbClr val="FFFFFF"/>
      </a:lt1>
      <a:dk2>
        <a:srgbClr val="0B1020"/>
      </a:dk2>
      <a:lt2>
        <a:srgbClr val="F2F5FA"/>
      </a:lt2>
      <a:accent1>
        <a:srgbClr val="1A5CFF"/>
      </a:accent1>
      <a:accent2>
        <a:srgbClr val="0A8FC2"/>
      </a:accent2>
      <a:accent3>
        <a:srgbClr val="14915F"/>
      </a:accent3>
      <a:accent4>
        <a:srgbClr val="D9731A"/>
      </a:accent4>
      <a:accent5>
        <a:srgbClr val="6B4FD8"/>
      </a:accent5>
      <a:accent6>
        <a:srgbClr val="3DD6FF"/>
      </a:accent6>
      <a:hlink>
        <a:srgbClr val="1A5CFF"/>
      </a:hlink>
      <a:folHlink>
        <a:srgbClr val="6B4FD8"/>
      </a:folHlink>
    </a:clrScheme>
    <a:fontScheme name="L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LOOM — pitch</dc:title>
  <dc:subject>PptxGenJS Presentation</dc:subject>
  <dc:creator>Team LOOM</dc:creator>
  <cp:lastModifiedBy>Team LOOM</cp:lastModifiedBy>
  <cp:revision>1</cp:revision>
  <dcterms:created xsi:type="dcterms:W3CDTF">2026-10-10T15:08:01Z</dcterms:created>
  <dcterms:modified xsi:type="dcterms:W3CDTF">2026-10-10T15:08:01Z</dcterms:modified>
</cp:coreProperties>
</file>